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d1962fc2324452" /><Relationship Type="http://schemas.openxmlformats.org/officeDocument/2006/relationships/extended-properties" Target="/docProps/app.xml" Id="R8f48505ab755469c" /><Relationship Type="http://schemas.openxmlformats.org/officeDocument/2006/relationships/officeDocument" Target="/ppt/presentation.xml" Id="R32fced60f54540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05fb454e04cfe"/>
  </p:sldMasterIdLst>
  <p:notesMasterIdLst>
    <p:notesMasterId xmlns:r="http://schemas.openxmlformats.org/officeDocument/2006/relationships" r:id="Ra6c2ba7e7e0640d2"/>
  </p:notesMasterIdLst>
  <p:sldIdLst>
    <p:sldId xmlns:r="http://schemas.openxmlformats.org/officeDocument/2006/relationships" id="256" r:id="Ra3be121697074a54"/>
    <p:sldId xmlns:r="http://schemas.openxmlformats.org/officeDocument/2006/relationships" id="257" r:id="R4991df9d8b3f4140"/>
    <p:sldId xmlns:r="http://schemas.openxmlformats.org/officeDocument/2006/relationships" id="258" r:id="R540337199b4e44d2"/>
    <p:sldId xmlns:r="http://schemas.openxmlformats.org/officeDocument/2006/relationships" id="259" r:id="R88dd0a8b605348ba"/>
    <p:sldId xmlns:r="http://schemas.openxmlformats.org/officeDocument/2006/relationships" id="260" r:id="R3530e807ca1e4536"/>
    <p:sldId xmlns:r="http://schemas.openxmlformats.org/officeDocument/2006/relationships" id="261" r:id="R809d43bf16814410"/>
    <p:sldId xmlns:r="http://schemas.openxmlformats.org/officeDocument/2006/relationships" id="262" r:id="R76c85f30ae164e2b"/>
    <p:sldId xmlns:r="http://schemas.openxmlformats.org/officeDocument/2006/relationships" id="263" r:id="R529762a661494c92"/>
    <p:sldId xmlns:r="http://schemas.openxmlformats.org/officeDocument/2006/relationships" id="264" r:id="R6409d0935036421e"/>
    <p:sldId xmlns:r="http://schemas.openxmlformats.org/officeDocument/2006/relationships" id="265" r:id="R11d8c37f28a14156"/>
    <p:sldId xmlns:r="http://schemas.openxmlformats.org/officeDocument/2006/relationships" id="266" r:id="R64ea45e43d214599"/>
    <p:sldId xmlns:r="http://schemas.openxmlformats.org/officeDocument/2006/relationships" id="267" r:id="Ra3b13b65117c4c25"/>
    <p:sldId xmlns:r="http://schemas.openxmlformats.org/officeDocument/2006/relationships" id="268" r:id="Rcebba6fd6b254855"/>
    <p:sldId xmlns:r="http://schemas.openxmlformats.org/officeDocument/2006/relationships" id="269" r:id="Rf9faac8486384361"/>
    <p:sldId xmlns:r="http://schemas.openxmlformats.org/officeDocument/2006/relationships" id="270" r:id="R3a7ec73f15924bfa"/>
    <p:sldId xmlns:r="http://schemas.openxmlformats.org/officeDocument/2006/relationships" id="271" r:id="R57d3fac0d8e64f67"/>
    <p:sldId xmlns:r="http://schemas.openxmlformats.org/officeDocument/2006/relationships" id="272" r:id="R1baab0eb9b674464"/>
    <p:sldId xmlns:r="http://schemas.openxmlformats.org/officeDocument/2006/relationships" id="273" r:id="R923089a7d2d5405d"/>
    <p:sldId xmlns:r="http://schemas.openxmlformats.org/officeDocument/2006/relationships" id="274" r:id="R14a1370a29404211"/>
    <p:sldId xmlns:r="http://schemas.openxmlformats.org/officeDocument/2006/relationships" id="275" r:id="R8579150e13f4470b"/>
    <p:sldId xmlns:r="http://schemas.openxmlformats.org/officeDocument/2006/relationships" id="276" r:id="Rc3e65163dcd748fe"/>
    <p:sldId xmlns:r="http://schemas.openxmlformats.org/officeDocument/2006/relationships" id="277" r:id="R747940d3db6a4d15"/>
    <p:sldId xmlns:r="http://schemas.openxmlformats.org/officeDocument/2006/relationships" id="278" r:id="Rdc661ef9a5bc4138"/>
    <p:sldId xmlns:r="http://schemas.openxmlformats.org/officeDocument/2006/relationships" id="279" r:id="R3a2a7aacd14e49e8"/>
    <p:sldId xmlns:r="http://schemas.openxmlformats.org/officeDocument/2006/relationships" id="280" r:id="R01485a27ad984fdb"/>
    <p:sldId xmlns:r="http://schemas.openxmlformats.org/officeDocument/2006/relationships" id="281" r:id="Rd7cbdb2362b94530"/>
    <p:sldId xmlns:r="http://schemas.openxmlformats.org/officeDocument/2006/relationships" id="282" r:id="R057e4604dbfd4e02"/>
    <p:sldId xmlns:r="http://schemas.openxmlformats.org/officeDocument/2006/relationships" id="283" r:id="R7a87ed5129b74aae"/>
    <p:sldId xmlns:r="http://schemas.openxmlformats.org/officeDocument/2006/relationships" id="284" r:id="Rc7a57b89db7a4f00"/>
    <p:sldId xmlns:r="http://schemas.openxmlformats.org/officeDocument/2006/relationships" id="285" r:id="R1b8a2fd02d884b83"/>
    <p:sldId xmlns:r="http://schemas.openxmlformats.org/officeDocument/2006/relationships" id="286" r:id="R83b2908792a7408a"/>
    <p:sldId xmlns:r="http://schemas.openxmlformats.org/officeDocument/2006/relationships" id="287" r:id="Rae9512cb9a424a40"/>
    <p:sldId xmlns:r="http://schemas.openxmlformats.org/officeDocument/2006/relationships" id="288" r:id="Rfab2b0baf3714458"/>
    <p:sldId xmlns:r="http://schemas.openxmlformats.org/officeDocument/2006/relationships" id="289" r:id="Rd25c21f92a9c4b97"/>
    <p:sldId xmlns:r="http://schemas.openxmlformats.org/officeDocument/2006/relationships" id="290" r:id="Rd307d6a724d646ea"/>
    <p:sldId xmlns:r="http://schemas.openxmlformats.org/officeDocument/2006/relationships" id="291" r:id="R27dfd56a00554f8b"/>
    <p:sldId xmlns:r="http://schemas.openxmlformats.org/officeDocument/2006/relationships" id="292" r:id="R3691cfd5eb2b43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b34ca3b79c4a78" /><Relationship Type="http://schemas.openxmlformats.org/officeDocument/2006/relationships/slideMaster" Target="/ppt/slideMasters/slideMaster1.xml" Id="R7c005fb454e04cfe" /><Relationship Type="http://schemas.openxmlformats.org/officeDocument/2006/relationships/notesMaster" Target="/ppt/notesMasters/notesMaster1.xml" Id="Ra6c2ba7e7e0640d2" /><Relationship Type="http://schemas.openxmlformats.org/officeDocument/2006/relationships/presProps" Target="/ppt/presProps.xml" Id="R079b2d8386f24d4a" /><Relationship Type="http://schemas.openxmlformats.org/officeDocument/2006/relationships/tableStyles" Target="/ppt/tableStyles.xml" Id="Reb71b52cede2428f" /><Relationship Type="http://schemas.openxmlformats.org/officeDocument/2006/relationships/slide" Target="/ppt/slides/slide1.xml" Id="Ra3be121697074a54" /><Relationship Type="http://schemas.openxmlformats.org/officeDocument/2006/relationships/slide" Target="/ppt/slides/slide2.xml" Id="R4991df9d8b3f4140" /><Relationship Type="http://schemas.openxmlformats.org/officeDocument/2006/relationships/slide" Target="/ppt/slides/slide3.xml" Id="R540337199b4e44d2" /><Relationship Type="http://schemas.openxmlformats.org/officeDocument/2006/relationships/slide" Target="/ppt/slides/slide4.xml" Id="R88dd0a8b605348ba" /><Relationship Type="http://schemas.openxmlformats.org/officeDocument/2006/relationships/slide" Target="/ppt/slides/slide5.xml" Id="R3530e807ca1e4536" /><Relationship Type="http://schemas.openxmlformats.org/officeDocument/2006/relationships/slide" Target="/ppt/slides/slide6.xml" Id="R809d43bf16814410" /><Relationship Type="http://schemas.openxmlformats.org/officeDocument/2006/relationships/slide" Target="/ppt/slides/slide7.xml" Id="R76c85f30ae164e2b" /><Relationship Type="http://schemas.openxmlformats.org/officeDocument/2006/relationships/slide" Target="/ppt/slides/slide8.xml" Id="R529762a661494c92" /><Relationship Type="http://schemas.openxmlformats.org/officeDocument/2006/relationships/slide" Target="/ppt/slides/slide9.xml" Id="R6409d0935036421e" /><Relationship Type="http://schemas.openxmlformats.org/officeDocument/2006/relationships/slide" Target="/ppt/slides/slide10.xml" Id="R11d8c37f28a14156" /><Relationship Type="http://schemas.openxmlformats.org/officeDocument/2006/relationships/slide" Target="/ppt/slides/slide11.xml" Id="R64ea45e43d214599" /><Relationship Type="http://schemas.openxmlformats.org/officeDocument/2006/relationships/slide" Target="/ppt/slides/slide12.xml" Id="Ra3b13b65117c4c25" /><Relationship Type="http://schemas.openxmlformats.org/officeDocument/2006/relationships/slide" Target="/ppt/slides/slide13.xml" Id="Rcebba6fd6b254855" /><Relationship Type="http://schemas.openxmlformats.org/officeDocument/2006/relationships/slide" Target="/ppt/slides/slide14.xml" Id="Rf9faac8486384361" /><Relationship Type="http://schemas.openxmlformats.org/officeDocument/2006/relationships/slide" Target="/ppt/slides/slide15.xml" Id="R3a7ec73f15924bfa" /><Relationship Type="http://schemas.openxmlformats.org/officeDocument/2006/relationships/slide" Target="/ppt/slides/slide16.xml" Id="R57d3fac0d8e64f67" /><Relationship Type="http://schemas.openxmlformats.org/officeDocument/2006/relationships/slide" Target="/ppt/slides/slide17.xml" Id="R1baab0eb9b674464" /><Relationship Type="http://schemas.openxmlformats.org/officeDocument/2006/relationships/slide" Target="/ppt/slides/slide18.xml" Id="R923089a7d2d5405d" /><Relationship Type="http://schemas.openxmlformats.org/officeDocument/2006/relationships/slide" Target="/ppt/slides/slide19.xml" Id="R14a1370a29404211" /><Relationship Type="http://schemas.openxmlformats.org/officeDocument/2006/relationships/slide" Target="/ppt/slides/slide20.xml" Id="R8579150e13f4470b" /><Relationship Type="http://schemas.openxmlformats.org/officeDocument/2006/relationships/slide" Target="/ppt/slides/slide21.xml" Id="Rc3e65163dcd748fe" /><Relationship Type="http://schemas.openxmlformats.org/officeDocument/2006/relationships/slide" Target="/ppt/slides/slide22.xml" Id="R747940d3db6a4d15" /><Relationship Type="http://schemas.openxmlformats.org/officeDocument/2006/relationships/slide" Target="/ppt/slides/slide23.xml" Id="Rdc661ef9a5bc4138" /><Relationship Type="http://schemas.openxmlformats.org/officeDocument/2006/relationships/slide" Target="/ppt/slides/slide24.xml" Id="R3a2a7aacd14e49e8" /><Relationship Type="http://schemas.openxmlformats.org/officeDocument/2006/relationships/slide" Target="/ppt/slides/slide25.xml" Id="R01485a27ad984fdb" /><Relationship Type="http://schemas.openxmlformats.org/officeDocument/2006/relationships/slide" Target="/ppt/slides/slide26.xml" Id="Rd7cbdb2362b94530" /><Relationship Type="http://schemas.openxmlformats.org/officeDocument/2006/relationships/slide" Target="/ppt/slides/slide27.xml" Id="R057e4604dbfd4e02" /><Relationship Type="http://schemas.openxmlformats.org/officeDocument/2006/relationships/slide" Target="/ppt/slides/slide28.xml" Id="R7a87ed5129b74aae" /><Relationship Type="http://schemas.openxmlformats.org/officeDocument/2006/relationships/slide" Target="/ppt/slides/slide29.xml" Id="Rc7a57b89db7a4f00" /><Relationship Type="http://schemas.openxmlformats.org/officeDocument/2006/relationships/slide" Target="/ppt/slides/slide30.xml" Id="R1b8a2fd02d884b83" /><Relationship Type="http://schemas.openxmlformats.org/officeDocument/2006/relationships/slide" Target="/ppt/slides/slide31.xml" Id="R83b2908792a7408a" /><Relationship Type="http://schemas.openxmlformats.org/officeDocument/2006/relationships/slide" Target="/ppt/slides/slide32.xml" Id="Rae9512cb9a424a40" /><Relationship Type="http://schemas.openxmlformats.org/officeDocument/2006/relationships/slide" Target="/ppt/slides/slide33.xml" Id="Rfab2b0baf3714458" /><Relationship Type="http://schemas.openxmlformats.org/officeDocument/2006/relationships/slide" Target="/ppt/slides/slide34.xml" Id="Rd25c21f92a9c4b97" /><Relationship Type="http://schemas.openxmlformats.org/officeDocument/2006/relationships/slide" Target="/ppt/slides/slide35.xml" Id="Rd307d6a724d646ea" /><Relationship Type="http://schemas.openxmlformats.org/officeDocument/2006/relationships/slide" Target="/ppt/slides/slide36.xml" Id="R27dfd56a00554f8b" /><Relationship Type="http://schemas.openxmlformats.org/officeDocument/2006/relationships/slide" Target="/ppt/slides/slide37.xml" Id="R3691cfd5eb2b43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2d59f2ba19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c403e45eb4a8d" /><Relationship Type="http://schemas.openxmlformats.org/officeDocument/2006/relationships/notesMaster" Target="/ppt/notesMasters/notesMaster1.xml" Id="R452014b02b34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db1e1484a54c56" /><Relationship Type="http://schemas.openxmlformats.org/officeDocument/2006/relationships/notesMaster" Target="/ppt/notesMasters/notesMaster1.xml" Id="R0f9bbb0e018649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5c690afb3046e0" /><Relationship Type="http://schemas.openxmlformats.org/officeDocument/2006/relationships/notesMaster" Target="/ppt/notesMasters/notesMaster1.xml" Id="Rfd5df20ab094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a3c5c3b0641d2" /><Relationship Type="http://schemas.openxmlformats.org/officeDocument/2006/relationships/notesMaster" Target="/ppt/notesMasters/notesMaster1.xml" Id="Ref2e56c7c52840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4dbcf5ca154fed" /><Relationship Type="http://schemas.openxmlformats.org/officeDocument/2006/relationships/notesMaster" Target="/ppt/notesMasters/notesMaster1.xml" Id="R2f0f56a7e52541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8bb5cf770d4561" /><Relationship Type="http://schemas.openxmlformats.org/officeDocument/2006/relationships/notesMaster" Target="/ppt/notesMasters/notesMaster1.xml" Id="R762677a6acef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f8e3bff829452a" /><Relationship Type="http://schemas.openxmlformats.org/officeDocument/2006/relationships/notesMaster" Target="/ppt/notesMasters/notesMaster1.xml" Id="R63670a0f96c9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7e17913129422b" /><Relationship Type="http://schemas.openxmlformats.org/officeDocument/2006/relationships/notesMaster" Target="/ppt/notesMasters/notesMaster1.xml" Id="R9b2a91fcd27e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a58c4b3d24df5" /><Relationship Type="http://schemas.openxmlformats.org/officeDocument/2006/relationships/notesMaster" Target="/ppt/notesMasters/notesMaster1.xml" Id="R80fe4112e79642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05e89fe3b94d5c" /><Relationship Type="http://schemas.openxmlformats.org/officeDocument/2006/relationships/notesMaster" Target="/ppt/notesMasters/notesMaster1.xml" Id="R320c20187cdb43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4e1a78db294a77" /><Relationship Type="http://schemas.openxmlformats.org/officeDocument/2006/relationships/notesMaster" Target="/ppt/notesMasters/notesMaster1.xml" Id="R70aa65285c37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fbc63e3704c87" /><Relationship Type="http://schemas.openxmlformats.org/officeDocument/2006/relationships/notesMaster" Target="/ppt/notesMasters/notesMaster1.xml" Id="Rcb4d8a18956045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6a103ce6b7441d" /><Relationship Type="http://schemas.openxmlformats.org/officeDocument/2006/relationships/notesMaster" Target="/ppt/notesMasters/notesMaster1.xml" Id="Rc403fbde5f9e4e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04f9514c184074" /><Relationship Type="http://schemas.openxmlformats.org/officeDocument/2006/relationships/notesMaster" Target="/ppt/notesMasters/notesMaster1.xml" Id="R980a2d4f604e40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82fdc312674e48" /><Relationship Type="http://schemas.openxmlformats.org/officeDocument/2006/relationships/notesMaster" Target="/ppt/notesMasters/notesMaster1.xml" Id="Ra8cfa879346a46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0c96abcfd4484b" /><Relationship Type="http://schemas.openxmlformats.org/officeDocument/2006/relationships/notesMaster" Target="/ppt/notesMasters/notesMaster1.xml" Id="R892ec407fb614b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acdabec2c44d4f" /><Relationship Type="http://schemas.openxmlformats.org/officeDocument/2006/relationships/notesMaster" Target="/ppt/notesMasters/notesMaster1.xml" Id="Ree66942280ef47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e60b33fc10483f" /><Relationship Type="http://schemas.openxmlformats.org/officeDocument/2006/relationships/notesMaster" Target="/ppt/notesMasters/notesMaster1.xml" Id="R7fe1497346be4c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44721493d14dca" /><Relationship Type="http://schemas.openxmlformats.org/officeDocument/2006/relationships/notesMaster" Target="/ppt/notesMasters/notesMaster1.xml" Id="R229e136e810b48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f7100c93ef4093" /><Relationship Type="http://schemas.openxmlformats.org/officeDocument/2006/relationships/notesMaster" Target="/ppt/notesMasters/notesMaster1.xml" Id="R9fcc9a6f8f1a41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75ecdcf4a648c9" /><Relationship Type="http://schemas.openxmlformats.org/officeDocument/2006/relationships/notesMaster" Target="/ppt/notesMasters/notesMaster1.xml" Id="Rcc099906afa245d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e2676889da44361" /><Relationship Type="http://schemas.openxmlformats.org/officeDocument/2006/relationships/notesMaster" Target="/ppt/notesMasters/notesMaster1.xml" Id="Ree35bfbaf23647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f5fa3594f64fde" /><Relationship Type="http://schemas.openxmlformats.org/officeDocument/2006/relationships/notesMaster" Target="/ppt/notesMasters/notesMaster1.xml" Id="Rfb8602adffc94f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b6309e7b4d4875" /><Relationship Type="http://schemas.openxmlformats.org/officeDocument/2006/relationships/notesMaster" Target="/ppt/notesMasters/notesMaster1.xml" Id="R9ce2e4a5d9f04b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f49566564d44e1" /><Relationship Type="http://schemas.openxmlformats.org/officeDocument/2006/relationships/notesMaster" Target="/ppt/notesMasters/notesMaster1.xml" Id="R779d27663d0046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c4b52481cf24d74" /><Relationship Type="http://schemas.openxmlformats.org/officeDocument/2006/relationships/notesMaster" Target="/ppt/notesMasters/notesMaster1.xml" Id="R692d94ac086546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fef65b075247f7" /><Relationship Type="http://schemas.openxmlformats.org/officeDocument/2006/relationships/notesMaster" Target="/ppt/notesMasters/notesMaster1.xml" Id="R8c364abd78f946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4d9d189afeb44d0" /><Relationship Type="http://schemas.openxmlformats.org/officeDocument/2006/relationships/notesMaster" Target="/ppt/notesMasters/notesMaster1.xml" Id="Rce39b98a7d8243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4c4270261347cd" /><Relationship Type="http://schemas.openxmlformats.org/officeDocument/2006/relationships/notesMaster" Target="/ppt/notesMasters/notesMaster1.xml" Id="Rbf87d8b5f42643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2b993fd6734775" /><Relationship Type="http://schemas.openxmlformats.org/officeDocument/2006/relationships/notesMaster" Target="/ppt/notesMasters/notesMaster1.xml" Id="R2b809c8c303546e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bda596fc46e4081" /><Relationship Type="http://schemas.openxmlformats.org/officeDocument/2006/relationships/notesMaster" Target="/ppt/notesMasters/notesMaster1.xml" Id="Rf0b406a8c98d4fb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1789dfcc944a1c" /><Relationship Type="http://schemas.openxmlformats.org/officeDocument/2006/relationships/notesMaster" Target="/ppt/notesMasters/notesMaster1.xml" Id="R5d16cd04fdb249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76372d196b84c85" /><Relationship Type="http://schemas.openxmlformats.org/officeDocument/2006/relationships/notesMaster" Target="/ppt/notesMasters/notesMaster1.xml" Id="Rdd754067228c484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f7ef3abcbe24663" /><Relationship Type="http://schemas.openxmlformats.org/officeDocument/2006/relationships/notesMaster" Target="/ppt/notesMasters/notesMaster1.xml" Id="R0b83ff0e16f745e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168a2f69fd46d2" /><Relationship Type="http://schemas.openxmlformats.org/officeDocument/2006/relationships/notesMaster" Target="/ppt/notesMasters/notesMaster1.xml" Id="Re4323288b32a46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b002c7ec4644b1" /><Relationship Type="http://schemas.openxmlformats.org/officeDocument/2006/relationships/notesMaster" Target="/ppt/notesMasters/notesMaster1.xml" Id="Ra3c9c946fefb42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24aff073404cdd" /><Relationship Type="http://schemas.openxmlformats.org/officeDocument/2006/relationships/notesMaster" Target="/ppt/notesMasters/notesMaster1.xml" Id="R2854449cf97c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AI 時代 企業行銷策略</a:t>
            </a:r>
          </a:p>
          <a:p xmlns:a="http://schemas.openxmlformats.org/drawingml/2006/main">
            <a:r>
              <a:t>09:20–09:23（3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開場先問大家：如果一份企劃、文案與執行表都能由 AI 起草，你最想學會哪一段？不要求回答或操作。自我介紹以企業顧問與實作經驗為主。今天看兩段我與 EVA 的對話，休息後再拆解人的工作。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客戶最後買到的是什麼？</a:t>
            </a:r>
          </a:p>
          <a:p xmlns:a="http://schemas.openxmlformats.org/drawingml/2006/main">
            <a:r>
              <a:t>09:23–09:26（3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讓學生從自己的消費經驗想起最近買的一杯咖啡。可請一兩位口頭回答，不點名、不收作業。接著說：企業要連起顧客需求、承諾與交付，文案只是其中一步。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AI 可以參與行銷的整段工作</a:t>
            </a:r>
          </a:p>
          <a:p xmlns:a="http://schemas.openxmlformats.org/drawingml/2006/main">
            <a:r>
              <a:t>09:26–09:30（4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這裡講的是今天會展示的工作範圍，不宣稱任何 AI 或任何帳號都能自動完成。AI 生成文字不等於資料已驗證、活動已執行或業績已發生。轉場：先看工作方式會如何改變。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工具換了，做法也要跟著變</a:t>
            </a:r>
          </a:p>
          <a:p xmlns:a="http://schemas.openxmlformats.org/drawingml/2006/main">
            <a:r>
              <a:t>09:30–09:33（3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原整併版第5頁照片。只用作比喻，不補照片年代、車輛故障或歷史故事。提問：如果大家都會生成文案，企業真正缺的是更多文案，還是更好的選擇？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一場咖啡品牌的行銷活動</a:t>
            </a:r>
          </a:p>
          <a:p xmlns:a="http://schemas.openxmlformats.org/drawingml/2006/main">
            <a:r>
              <a:t>09:33–09:36（3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介紹虛構課後咖啡。只展示初始期待，不先揭露12筆實際容量。正常飲品90元，成本30元；雙人套餐180元、變動成本80元。把教學假設與真實成效分清楚。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先讀資料，再想活動</a:t>
            </a:r>
          </a:p>
          <a:p xmlns:a="http://schemas.openxmlformats.org/drawingml/2006/main">
            <a:r>
              <a:t>09:36–09:40（4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這是三段不同時期的歷史教學資料，不是隨機對照實驗。A/B/C各有10個平日下午，不能只看觸及選方案，也不跨活動加總觸及。完整數據見歷史活動.csv。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活動方案必須有所取捨</a:t>
            </a:r>
          </a:p>
          <a:p xmlns:a="http://schemas.openxmlformats.org/drawingml/2006/main">
            <a:r>
              <a:t>09:40–09:44（4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請學生先選擇想追問的指標。B固定支出/新客55.56元，C83.33元；C新客30天回購30%，B12.5%。這不是增量CAC，也不能直接預測新活動。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示範一：從資料選方案</a:t>
            </a:r>
          </a:p>
          <a:p xmlns:a="http://schemas.openxmlformats.org/drawingml/2006/main">
            <a:r>
              <a:t>09:44–09:45（1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說明 EVA 是這場對話中的稱呼。案例是事先準備的教學假設。打開示範資料中的新對話貼上包，只分析、不連外執行；資料已貼好再開口，避免學生等檔案。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「你為什麼選這個方案？」</a:t>
            </a:r>
          </a:p>
          <a:p xmlns:a="http://schemas.openxmlformats.org/drawingml/2006/main">
            <a:r>
              <a:t>09:45–09:55（10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現場示範一主段。依「示範腳本」逐輪進行：先請 AI 比較，再追問資源不足時捨棄什麼，最後收斂成待審方案。每輪只顯示一個結論與兩個理由。等待超過45秒，說明改看預備示例，不以等待填時間。</a:t>
            </a:r>
          </a:p>
          <a:p xmlns:a="http://schemas.openxmlformats.org/drawingml/2006/main">
            <a:r>
              <a:t>開口句：我是課後咖啡老闆，這裡有品牌資料和過去三次活動。下個月預算六千元，想帶來一百五十位新客，也希望貼文很紅。先別直接寫文案，判斷該做什麼活動，把事實、推測、還需確認分開。</a:t>
            </a:r>
          </a:p>
          <a:p xmlns:a="http://schemas.openxmlformats.org/drawingml/2006/main">
            <a:r>
              <a:t>詳見示範資料/09_兩段現場示範講者卡.md；先貼06，第二輪才補03。</a:t>
            </a:r>
          </a:p>
          <a:p xmlns:a="http://schemas.openxmlformats.org/drawingml/2006/main">
            <a:r>
              <a:t>開口句：我是課後咖啡老闆，這裡有品牌資料和過去三次活動。下個月預算六千元，想帶來一百五十位新客，也希望貼文很紅。先別直接寫文案，判斷該做什麼活動，把事實、推測、還需確認分開。</a:t>
            </a:r>
          </a:p>
          <a:p xmlns:a="http://schemas.openxmlformats.org/drawingml/2006/main">
            <a:r>
              <a:t>詳見示範資料/09_兩段現場示範講者卡.md；先貼06，第二輪才補03。</a:t>
            </a:r>
          </a:p>
          <a:p xmlns:a="http://schemas.openxmlformats.org/drawingml/2006/main">
            <a:r>
              <a:t>開口句：我是課後咖啡老闆，這裡有品牌資料和過去三次活動。下個月預算六千元，想帶來一百五十位新客，也希望貼文很紅。先別直接寫文案，判斷該做什麼活動，把事實、推測、還需確認分開。</a:t>
            </a:r>
          </a:p>
          <a:p xmlns:a="http://schemas.openxmlformats.org/drawingml/2006/main">
            <a:r>
              <a:t>詳見示範資料/09_兩段現場示範講者卡.md；先貼06，第二輪才補03。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選擇的理由，要能被追問</a:t>
            </a:r>
          </a:p>
          <a:p xmlns:a="http://schemas.openxmlformats.org/drawingml/2006/main">
            <a:r>
              <a:t>09:55–09:58（3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此頁只在第二輪補充後揭露。10天共100筆名額是容量上限，不是需求。60/80=75%新客占比是規劃假設，18位回購亦是目標。80筆但48新客：訂單達標、新客未達。最晚12/13才滿全部30天觀察窗。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資源花在哪裡，策略就在哪裡</a:t>
            </a:r>
          </a:p>
          <a:p xmlns:a="http://schemas.openxmlformats.org/drawingml/2006/main">
            <a:r>
              <a:t>09:58–10:01（3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所有金額皆提案，保留不是已花。80×180=14,400，減80×80=6,400，貢獻8,000，扣4,500剩3,500。未扣固定薪資租金稅，不是淨利、預測或增量證明。45筆可涵蓋4,500活動固定費；若花滿6,000則60筆。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目標與保證是兩回事</a:t>
            </a:r>
          </a:p>
          <a:p xmlns:a="http://schemas.openxmlformats.org/drawingml/2006/main">
            <a:r>
              <a:t>10:01–10:03（2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請學生聽出三個詞差異。活動規劃可以設定目標，但不能把目標改寫成「保證達標」。轉場：選好方向後，還得把它變成別人做得出來的工作。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13. 一個方案，需要多種交付物</a:t>
            </a:r>
          </a:p>
          <a:p xmlns:a="http://schemas.openxmlformats.org/drawingml/2006/main">
            <a:r>
              <a:t>10:03–10:05（2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沿用原版會議整理的責任、期限與完成標準方法，現在落在行銷活動。不要一口氣展示完整長表，先看一列，讓學生知道追蹤的是完成證據。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14. 示範二：把方案變成行動</a:t>
            </a:r>
          </a:p>
          <a:p xmlns:a="http://schemas.openxmlformats.org/drawingml/2006/main">
            <a:r>
              <a:t>10:05–10:06（1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切換到示範二。使用案例包中的已選方案和虛構會議紀錄，不依賴前一段一定生成完全相同文字。說明本次只擬稿，沒有發布或對客戶發送。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15. 「這句話，我們真的能說嗎？」</a:t>
            </a:r>
          </a:p>
          <a:p xmlns:a="http://schemas.openxmlformats.org/drawingml/2006/main">
            <a:r>
              <a:t>10:06–10:13（7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用07新對話貼上包。依09講者卡逐輪看分工與文案。不要要求AI故意犯錯；已正確標未定，就問還缺誰確認。特別看保證座位、把兩杯當兩位新客、領券系統尚未存在、回購負責人未定。</a:t>
            </a:r>
          </a:p>
          <a:p xmlns:a="http://schemas.openxmlformats.org/drawingml/2006/main">
            <a:r>
              <a:t>開口句：根據方案與會議整理已決定、提案待核、還沒有人負責，再寫120字內活動文案與3題FAQ，未確認承諾不要補。</a:t>
            </a:r>
          </a:p>
          <a:p xmlns:a="http://schemas.openxmlformats.org/drawingml/2006/main">
            <a:r>
              <a:t>詳見09講者卡；沒有錯就追問依據，不演假糾錯。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16. 修正後，才是可審閱的版本</a:t>
            </a:r>
          </a:p>
          <a:p xmlns:a="http://schemas.openxmlformats.org/drawingml/2006/main">
            <a:r>
              <a:t>10:13–10:16（3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展示標準參考文案但只投影三個重點。120字內完整稿在08檔。若即時AI寫「先選日期領券」，要標擬定機制待核准，不當已上線；不編網址。這段只生成草稿，沒投放沒成交。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17. 有結果，還要能解釋結果</a:t>
            </a:r>
          </a:p>
          <a:p xmlns:a="http://schemas.openxmlformats.org/drawingml/2006/main">
            <a:r>
              <a:t>10:16–10:18（2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記活動碼、核銷日、匿名案例會員識別、首次付費、實收、成本、截止日與回購狀態。未滿觀察窗不能當未回購。付款會員去重，同行者不算新客。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18. AI 能做這麼多， 企業還需要人做什麼？</a:t>
            </a:r>
          </a:p>
          <a:p xmlns:a="http://schemas.openxmlformats.org/drawingml/2006/main">
            <a:r>
              <a:t>10:18–10:20（2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休息前不要先給完整答案。請學生回想剛才哪一個問題由人提出、哪一個承諾由人刪掉。10:20準時休息。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19. 休息 20 分鐘</a:t>
            </a:r>
          </a:p>
          <a:p xmlns:a="http://schemas.openxmlformats.org/drawingml/2006/main">
            <a:r>
              <a:t>10:20–10:40（20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10:20–10:40。保持此頁投影。檢查音訊與字級，回來前不要把私人視窗投影。下半場硬開始時間10:40。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20. 回看剛才的兩段對話</a:t>
            </a:r>
          </a:p>
          <a:p xmlns:a="http://schemas.openxmlformats.org/drawingml/2006/main">
            <a:r>
              <a:t>10:40–10:42（2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10:40重新開場。請一兩位同學說出一個觀察即可。若無人回答，自己指出選方案、查預算、刪除保證語句三個位置。今天不主張某種職位永遠安全，而是看工作如何拆分。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21. 人的三明治，是反覆循環</a:t>
            </a:r>
          </a:p>
          <a:p xmlns:a="http://schemas.openxmlformats.org/drawingml/2006/main">
            <a:r>
              <a:t>10:42–10:47（5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用兩段示範各回放一次：最初限制不清楚會發生什麼？AI 給初稿後人發現什麼？修正後還要再檢查什麼？三明治不是人只在頭尾蓋章，中間也會補資料或換方向。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22. 企業仍需要有人對結果負責</a:t>
            </a:r>
          </a:p>
          <a:p xmlns:a="http://schemas.openxmlformats.org/drawingml/2006/main">
            <a:r>
              <a:t>10:47–10:51（4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把責任連回公司目標、顧客體驗與組織授權。不是把新人直接升成主管，也不是宣稱人不會被取代。新人仍要理解執行、看得出錯誤，才有資格提出可靠建議。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23. 已知的已知</a:t>
            </a:r>
          </a:p>
          <a:p xmlns:a="http://schemas.openxmlformats.org/drawingml/2006/main">
            <a:r>
              <a:t>10:51–10:55（4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以咖啡案例的預算、活動期間、客群、產能或歷史數據為例。教學案例內可以是已知輸入，卻不代表現實品牌數據。讓 AI 引出原資料位置，自己回去讀。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24. 已知的未知</a:t>
            </a:r>
          </a:p>
          <a:p xmlns:a="http://schemas.openxmlformats.org/drawingml/2006/main">
            <a:r>
              <a:t>10:55–10:59（4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以案例的店務資源、成效假設、授權或合作條件為例。AI 可以整理問題，但缺的資料不會因文字流暢而自動補齊。示範一句「這點需要誰回答？」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25. 未知的未知</a:t>
            </a:r>
          </a:p>
          <a:p xmlns:a="http://schemas.openxmlformats.org/drawingml/2006/main">
            <a:r>
              <a:t>10:59–11:03（4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請 AI 指出可能盲點，例如測量重複、顧客使用障礙或現場瓶頸。這些是檢查方向，不是被證實的事實。也不要承諾 AI 能窮盡所有未知。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26. 一張看起來很有說服力的圖</a:t>
            </a:r>
          </a:p>
          <a:p xmlns:a="http://schemas.openxmlformats.org/drawingml/2006/main">
            <a:r>
              <a:t>11:03–11:08（5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原整併版第16頁原PNG。原圖分類、母體與計算方式未核實；付費不等於能力。讓學生看見圖表外觀與證據品質是兩件事。本頁只示範查證，不用百分比推論市場規模或就業機會。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27. 五項值得練的能力</a:t>
            </a:r>
          </a:p>
          <a:p xmlns:a="http://schemas.openxmlformats.org/drawingml/2006/main">
            <a:r>
              <a:t>11:08–11:11（3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先給學生全景，後面每頁都回到咖啡案例，不列工具排行榜。技能是可練的行為，並不保證就業結果或工作不被自動化。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28. 商業理解：知道為誰創造價值</a:t>
            </a:r>
          </a:p>
          <a:p xmlns:a="http://schemas.openxmlformats.org/drawingml/2006/main">
            <a:r>
              <a:t>11:11–11:16（5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咖啡品牌說明曝光、到店、購買、回訪可以是不同問題，不能只因某工具擅長生影片就決定拍影片。新人可以先訪談同事、觀察顧客、讀既有資料，從執行理解商業。可口頭問：如果店裡已滿座，還要追求更多同時到店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29. 問題定義：把模糊要求說清楚</a:t>
            </a:r>
          </a:p>
          <a:p xmlns:a="http://schemas.openxmlformats.org/drawingml/2006/main">
            <a:r>
              <a:t>11:16–11:20（4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示範用一句模糊要求和案例包中的完整brief對照。提示詞不是咒語，而是把工作說清楚。練法建議放在講述，不要求學生現場寫作業。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30. 數字判讀：看懂分母與代價</a:t>
            </a:r>
          </a:p>
          <a:p xmlns:a="http://schemas.openxmlformats.org/drawingml/2006/main">
            <a:r>
              <a:t>11:20–11:25（5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回到預算表與衡量表，挑兩個數字口頭算。不要只問答案對不對，要問計算用的是哪一群人、哪段期間、哪些費用。若資料不足，可靠的回答可以是目前算不出來。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31. AI 協作：每一輪都能被檢查</a:t>
            </a:r>
          </a:p>
          <a:p xmlns:a="http://schemas.openxmlformats.org/drawingml/2006/main">
            <a:r>
              <a:t>11:25–11:29（4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不是每次都重開一個模糊問題，也不是把 AI 當最終裁判。舉示範中的過度承諾修正，說明人也會漏看，需要可重複的查核習慣。學生可在日常小任務練習，不必先買更多工具。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32. 溝通落實：讓別人接得住</a:t>
            </a:r>
          </a:p>
          <a:p xmlns:a="http://schemas.openxmlformats.org/drawingml/2006/main">
            <a:r>
              <a:t>11:29–11:33（4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沿用原會議整理的精華。請學生想實習時收到一句「幫忙處理一下」與收到清楚交付標準的差異。新人要把執行做好，回報疑問、進度與證據，逐步累積判斷力。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33. 把事情做出來， 也把為什麼說清楚</a:t>
            </a:r>
          </a:p>
          <a:p xmlns:a="http://schemas.openxmlformats.org/drawingml/2006/main">
            <a:r>
              <a:t>11:33–11:35（2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11:33–11:35結語。回答中心問句：企業仍需要有人定義值得做的事、查證結果、協調承諾與交付；這些能力也會隨工具演進而改變。人不應跳過執行，正是透過執行學會判斷。感謝學生主辦。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34. Q&amp;A</a:t>
            </a:r>
          </a:p>
          <a:p xmlns:a="http://schemas.openxmlformats.org/drawingml/2006/main">
            <a:r>
              <a:t>11:35–11:50（15 分鐘）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:35–11:50。無人提問時依序用三個備案：1.「AI做得比我快，我還要練基本功嗎？」用看不出錯誤就無法驗收回答。2.「一定要會寫程式嗎？」依工作需要學，先把商業、資料、查證與溝通做好。3.「履歷怎麼呈現AI能力？」展示問題、輸入、修正與成果證據，交代自己的角色，不把AI輸出當已驗證績效。若提問熱烈，11:48收最後一題，11:49:30重述結語，11:50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35. 備援：示範沒有回應時</a:t>
            </a:r>
          </a:p>
          <a:p xmlns:a="http://schemas.openxmlformats.org/drawingml/2006/main">
            <a:r>
              <a:t>備援，不計入正式時程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只在需要時使用。開啟離線備援.html，兩段都保留Zell追問與EVA參考回答。不需要影片，不宣稱有錄影。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36. 附錄：原版急單判斷</a:t>
            </a:r>
          </a:p>
          <a:p xmlns:a="http://schemas.openxmlformats.org/drawingml/2006/main">
            <a:r>
              <a:t>備援，不計入正式時程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原9/12虛構案例，只作額外問答，不占主場。採購、人力、外包、品檢、物流、客戶都要確認。日期固定2026/9/12；不要用今天。本版不連私人信箱或行事曆。原附件複本置於附錄資料。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37. 附錄：會後整理的方法</a:t>
            </a:r>
          </a:p>
          <a:p xmlns:a="http://schemas.openxmlformats.org/drawingml/2006/main">
            <a:r>
              <a:t>備援，不計入正式時程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原版會議整理方法已融入行銷示範二。本頁僅在學生問如何做會議整理時使用，不展示私人行程。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來源：本地虛構教學資料／原整併版指定素材。所有時間為講述配置，未經現場計時。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6358c9c8b4b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30a6e7be4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a17bc5ecd4a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e3385837841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933af0bb645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97459e68e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76FE9A-6394-470A-AF56-42A965D0C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50E93D-8BD7-4D00-8B2F-133212C1E4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83D891-4C18-4A83-8AE0-577B779F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3FEF18-6F46-4B41-B41D-49DD006DC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24B6A1-EC48-4604-AA64-2F12B6C6F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3F8D89-299C-4C43-B00E-ACDA4637A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245B2-4B1A-44A8-BDF7-A58A6D19B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2BAE5-C0A3-41A7-AFA1-BCCFBB84CF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C0D660-3AFA-4D32-A7C4-FDEDD0330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648EE-5D4E-4E80-8292-6A8A5B2649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08cd8bed014dd9" /><Relationship Type="http://schemas.openxmlformats.org/officeDocument/2006/relationships/slideLayout" Target="/ppt/slideLayouts/slideLayout1.xml" Id="R0689a40f3913482f" /><Relationship Type="http://schemas.openxmlformats.org/officeDocument/2006/relationships/slideLayout" Target="/ppt/slideLayouts/slideLayout2.xml" Id="Rcfd4c2e243214715" /><Relationship Type="http://schemas.openxmlformats.org/officeDocument/2006/relationships/slideLayout" Target="/ppt/slideLayouts/slideLayout3.xml" Id="Rd59640c8f139452d" /><Relationship Type="http://schemas.openxmlformats.org/officeDocument/2006/relationships/slideLayout" Target="/ppt/slideLayouts/slideLayout4.xml" Id="Rd095a3d561194bf9" /><Relationship Type="http://schemas.openxmlformats.org/officeDocument/2006/relationships/slideLayout" Target="/ppt/slideLayouts/slideLayout5.xml" Id="R07ee1d644c054425" /><Relationship Type="http://schemas.openxmlformats.org/officeDocument/2006/relationships/slideLayout" Target="/ppt/slideLayouts/slideLayout6.xml" Id="R52cd2ac258b2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9a40f3913482f"/>
    <p:sldLayoutId xmlns:r="http://schemas.openxmlformats.org/officeDocument/2006/relationships" id="2147483650" r:id="Rcfd4c2e243214715"/>
    <p:sldLayoutId xmlns:r="http://schemas.openxmlformats.org/officeDocument/2006/relationships" id="2147483651" r:id="Rd59640c8f139452d"/>
    <p:sldLayoutId xmlns:r="http://schemas.openxmlformats.org/officeDocument/2006/relationships" id="2147483652" r:id="Rd095a3d561194bf9"/>
    <p:sldLayoutId xmlns:r="http://schemas.openxmlformats.org/officeDocument/2006/relationships" id="2147483653" r:id="R07ee1d644c054425"/>
    <p:sldLayoutId xmlns:r="http://schemas.openxmlformats.org/officeDocument/2006/relationships" id="2147483654" r:id="R52cd2ac258b2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5aa993f8d4c18" /><Relationship Type="http://schemas.openxmlformats.org/officeDocument/2006/relationships/notesSlide" Target="/ppt/notesSlides/notesSlide1.xml" Id="R3137b4500cea4c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d7d86113a4f77" /><Relationship Type="http://schemas.openxmlformats.org/officeDocument/2006/relationships/notesSlide" Target="/ppt/notesSlides/notesSlide2.xml" Id="Re4a60119f25849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5f2bd937b4bac" /><Relationship Type="http://schemas.openxmlformats.org/officeDocument/2006/relationships/notesSlide" Target="/ppt/notesSlides/notesSlide3.xml" Id="Rc89b1d132701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5a192ed984d37" /><Relationship Type="http://schemas.openxmlformats.org/officeDocument/2006/relationships/image" Target="/ppt/media/image.jpeg" Id="R241cac480a0e46bb" /><Relationship Type="http://schemas.openxmlformats.org/officeDocument/2006/relationships/notesSlide" Target="/ppt/notesSlides/notesSlide4.xml" Id="R9d7562022221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f90fe03c84d5a" /><Relationship Type="http://schemas.openxmlformats.org/officeDocument/2006/relationships/notesSlide" Target="/ppt/notesSlides/notesSlide5.xml" Id="Rbd6892c9fed4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64fc8e303496d" /><Relationship Type="http://schemas.openxmlformats.org/officeDocument/2006/relationships/notesSlide" Target="/ppt/notesSlides/notesSlide6.xml" Id="R2cd24377bda44d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e94ecd2c94890" /><Relationship Type="http://schemas.openxmlformats.org/officeDocument/2006/relationships/notesSlide" Target="/ppt/notesSlides/notesSlide7.xml" Id="R4a9b06a2fd7b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f11a0cf434406" /><Relationship Type="http://schemas.openxmlformats.org/officeDocument/2006/relationships/notesSlide" Target="/ppt/notesSlides/notesSlide8.xml" Id="Rde4e96a69fa64b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90ced7e0240cb" /><Relationship Type="http://schemas.openxmlformats.org/officeDocument/2006/relationships/notesSlide" Target="/ppt/notesSlides/notesSlide9.xml" Id="R486919b4f2e948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817ad5fe248ac" /><Relationship Type="http://schemas.openxmlformats.org/officeDocument/2006/relationships/notesSlide" Target="/ppt/notesSlides/notesSlide10.xml" Id="Rc014e86d5db347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3393e80ef44bb" /><Relationship Type="http://schemas.openxmlformats.org/officeDocument/2006/relationships/notesSlide" Target="/ppt/notesSlides/notesSlide11.xml" Id="R22c6a87a76704b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e4c8c64db4051" /><Relationship Type="http://schemas.openxmlformats.org/officeDocument/2006/relationships/notesSlide" Target="/ppt/notesSlides/notesSlide12.xml" Id="Rb7ee85a5a7cd45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6df813e8645c5" /><Relationship Type="http://schemas.openxmlformats.org/officeDocument/2006/relationships/notesSlide" Target="/ppt/notesSlides/notesSlide13.xml" Id="Ra38e97fc0bae46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1b9f0f1984738" /><Relationship Type="http://schemas.openxmlformats.org/officeDocument/2006/relationships/notesSlide" Target="/ppt/notesSlides/notesSlide14.xml" Id="Rb3dff6e3ac1140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fb032976f4173" /><Relationship Type="http://schemas.openxmlformats.org/officeDocument/2006/relationships/notesSlide" Target="/ppt/notesSlides/notesSlide15.xml" Id="Redbbe128038944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b44b35f994887" /><Relationship Type="http://schemas.openxmlformats.org/officeDocument/2006/relationships/notesSlide" Target="/ppt/notesSlides/notesSlide16.xml" Id="Ref5687881ee141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cce7bb4fd4531" /><Relationship Type="http://schemas.openxmlformats.org/officeDocument/2006/relationships/notesSlide" Target="/ppt/notesSlides/notesSlide17.xml" Id="R56013ffe018e40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8e960699940fe" /><Relationship Type="http://schemas.openxmlformats.org/officeDocument/2006/relationships/notesSlide" Target="/ppt/notesSlides/notesSlide18.xml" Id="Ra0262a87824443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6818c7a8a4b10" /><Relationship Type="http://schemas.openxmlformats.org/officeDocument/2006/relationships/notesSlide" Target="/ppt/notesSlides/notesSlide19.xml" Id="Rb1518a9bbe9944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d8e9dd50942d5" /><Relationship Type="http://schemas.openxmlformats.org/officeDocument/2006/relationships/notesSlide" Target="/ppt/notesSlides/notesSlide20.xml" Id="R9a32cf15b6a149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b28d4961f4a18" /><Relationship Type="http://schemas.openxmlformats.org/officeDocument/2006/relationships/notesSlide" Target="/ppt/notesSlides/notesSlide21.xml" Id="Ra0b072b3074e4e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5007da0f34ec3" /><Relationship Type="http://schemas.openxmlformats.org/officeDocument/2006/relationships/notesSlide" Target="/ppt/notesSlides/notesSlide22.xml" Id="Rbf75e85a030040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165a094114aeb" /><Relationship Type="http://schemas.openxmlformats.org/officeDocument/2006/relationships/notesSlide" Target="/ppt/notesSlides/notesSlide23.xml" Id="Reca855f3c2124c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834727a4d4474" /><Relationship Type="http://schemas.openxmlformats.org/officeDocument/2006/relationships/notesSlide" Target="/ppt/notesSlides/notesSlide24.xml" Id="Ree6d01558a9948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b61b26a1964848" /><Relationship Type="http://schemas.openxmlformats.org/officeDocument/2006/relationships/notesSlide" Target="/ppt/notesSlides/notesSlide25.xml" Id="R1cc5afebd923400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1d190c45849d2" /><Relationship Type="http://schemas.openxmlformats.org/officeDocument/2006/relationships/image" Target="/ppt/media/image.png" Id="R66386bd0034b479c" /><Relationship Type="http://schemas.openxmlformats.org/officeDocument/2006/relationships/notesSlide" Target="/ppt/notesSlides/notesSlide26.xml" Id="R3d15027bc0b04c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c9641f8034763" /><Relationship Type="http://schemas.openxmlformats.org/officeDocument/2006/relationships/notesSlide" Target="/ppt/notesSlides/notesSlide27.xml" Id="R1314de613d7341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08586d1bb4073" /><Relationship Type="http://schemas.openxmlformats.org/officeDocument/2006/relationships/notesSlide" Target="/ppt/notesSlides/notesSlide28.xml" Id="Ra73105c0128f43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432830260422d" /><Relationship Type="http://schemas.openxmlformats.org/officeDocument/2006/relationships/notesSlide" Target="/ppt/notesSlides/notesSlide29.xml" Id="Red5d6c4a8ff244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f569195f04a92" /><Relationship Type="http://schemas.openxmlformats.org/officeDocument/2006/relationships/notesSlide" Target="/ppt/notesSlides/notesSlide30.xml" Id="R4bfb3b4deee748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1b8601d1c401b" /><Relationship Type="http://schemas.openxmlformats.org/officeDocument/2006/relationships/notesSlide" Target="/ppt/notesSlides/notesSlide31.xml" Id="R55b031a8d4fa4e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ef48946da4296" /><Relationship Type="http://schemas.openxmlformats.org/officeDocument/2006/relationships/notesSlide" Target="/ppt/notesSlides/notesSlide32.xml" Id="Rb20b9cc692af43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827f0134c4431" /><Relationship Type="http://schemas.openxmlformats.org/officeDocument/2006/relationships/notesSlide" Target="/ppt/notesSlides/notesSlide33.xml" Id="R8eef736ab50641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390d766c741eb" /><Relationship Type="http://schemas.openxmlformats.org/officeDocument/2006/relationships/notesSlide" Target="/ppt/notesSlides/notesSlide34.xml" Id="R72ccab280ce94b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22a23dcd84d30" /><Relationship Type="http://schemas.openxmlformats.org/officeDocument/2006/relationships/notesSlide" Target="/ppt/notesSlides/notesSlide35.xml" Id="Rfc13d81fc622418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74997f99b4bdd" /><Relationship Type="http://schemas.openxmlformats.org/officeDocument/2006/relationships/notesSlide" Target="/ppt/notesSlides/notesSlide36.xml" Id="R5c040449f13a42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352db505048ab" /><Relationship Type="http://schemas.openxmlformats.org/officeDocument/2006/relationships/notesSlide" Target="/ppt/notesSlides/notesSlide37.xml" Id="Readbffe569e1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-text-1">
            <a:extLst xmlns:a="http://schemas.openxmlformats.org/drawingml/2006/main">
              <a:ext uri="{FF2B5EF4-FFF2-40B4-BE49-F238E27FC236}">
                <a16:creationId xmlns:a16="http://schemas.microsoft.com/office/drawing/2014/main" id="{DC3CB9F0-4101-47F4-883A-CF2D49C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-text-2">
            <a:extLst xmlns:a="http://schemas.openxmlformats.org/drawingml/2006/main">
              <a:ext uri="{FF2B5EF4-FFF2-40B4-BE49-F238E27FC236}">
                <a16:creationId xmlns:a16="http://schemas.microsoft.com/office/drawing/2014/main" id="{569E12A1-2B32-4EC0-96B8-F880B89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AI 時代</a:t>
            </a:r>
          </a:p>
          <a:p xmlns:a="http://schemas.openxmlformats.org/drawingml/2006/main">
            <a:pPr>
              <a:def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企業行銷策略</a:t>
            </a:r>
          </a:p>
        </p:txBody>
      </p:sp>
      <p:sp>
        <p:nvSpPr>
          <p:cNvPr id="3" name="p1-text-3">
            <a:extLst xmlns:a="http://schemas.openxmlformats.org/drawingml/2006/main">
              <a:ext uri="{FF2B5EF4-FFF2-40B4-BE49-F238E27FC236}">
                <a16:creationId xmlns:a16="http://schemas.microsoft.com/office/drawing/2014/main" id="{E453845F-B89D-411E-8F45-3E27BAD2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Zell｜梵亞行銷顧問</a:t>
            </a:r>
          </a:p>
        </p:txBody>
      </p:sp>
      <p:sp>
        <p:nvSpPr>
          <p:cNvPr id="4" name="p1-text-4">
            <a:extLst xmlns:a="http://schemas.openxmlformats.org/drawingml/2006/main">
              <a:ext uri="{FF2B5EF4-FFF2-40B4-BE49-F238E27FC236}">
                <a16:creationId xmlns:a16="http://schemas.microsoft.com/office/drawing/2014/main" id="{3C23C81C-0FA6-438F-BB4B-6D01BA0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2026.10.29　09:20–11:50</a:t>
            </a:r>
          </a:p>
        </p:txBody>
      </p:sp>
      <p:sp>
        <p:nvSpPr>
          <p:cNvPr id="5" name="p1-text-5">
            <a:extLst xmlns:a="http://schemas.openxmlformats.org/drawingml/2006/main">
              <a:ext uri="{FF2B5EF4-FFF2-40B4-BE49-F238E27FC236}">
                <a16:creationId xmlns:a16="http://schemas.microsoft.com/office/drawing/2014/main" id="{3941041E-258F-4B65-97B7-FF7B4610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英才樓 R313</a:t>
            </a:r>
          </a:p>
        </p:txBody>
      </p:sp>
      <p:sp>
        <p:nvSpPr>
          <p:cNvPr id="6" name="p1-text-6">
            <a:extLst xmlns:a="http://schemas.openxmlformats.org/drawingml/2006/main">
              <a:ext uri="{FF2B5EF4-FFF2-40B4-BE49-F238E27FC236}">
                <a16:creationId xmlns:a16="http://schemas.microsoft.com/office/drawing/2014/main" id="{EC7B5896-5C17-4F7E-8B53-A28883CC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1-text-7">
            <a:extLst xmlns:a="http://schemas.openxmlformats.org/drawingml/2006/main">
              <a:ext uri="{FF2B5EF4-FFF2-40B4-BE49-F238E27FC236}">
                <a16:creationId xmlns:a16="http://schemas.microsoft.com/office/drawing/2014/main" id="{43840DDD-7DC3-4C3B-AEA4-289FE58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0834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-text-1">
            <a:extLst xmlns:a="http://schemas.openxmlformats.org/drawingml/2006/main">
              <a:ext uri="{FF2B5EF4-FFF2-40B4-BE49-F238E27FC236}">
                <a16:creationId xmlns:a16="http://schemas.microsoft.com/office/drawing/2014/main" id="{D4DADC9A-0934-4BB4-9611-4A9FD89E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2-text-2">
            <a:extLst xmlns:a="http://schemas.openxmlformats.org/drawingml/2006/main">
              <a:ext uri="{FF2B5EF4-FFF2-40B4-BE49-F238E27FC236}">
                <a16:creationId xmlns:a16="http://schemas.microsoft.com/office/drawing/2014/main" id="{C2FB277D-C2A6-4D11-9A0F-DB02828D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客戶最後買到的是什麼？</a:t>
            </a:r>
          </a:p>
        </p:txBody>
      </p:sp>
      <p:sp>
        <p:nvSpPr>
          <p:cNvPr id="3" name="p2-text-3">
            <a:extLst xmlns:a="http://schemas.openxmlformats.org/drawingml/2006/main">
              <a:ext uri="{FF2B5EF4-FFF2-40B4-BE49-F238E27FC236}">
                <a16:creationId xmlns:a16="http://schemas.microsoft.com/office/drawing/2014/main" id="{C24DA11C-D64E-4F51-970D-148EFF3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一則好看的貼文？</a:t>
            </a:r>
          </a:p>
        </p:txBody>
      </p:sp>
      <p:sp>
        <p:nvSpPr>
          <p:cNvPr id="4" name="p2-text-4">
            <a:extLst xmlns:a="http://schemas.openxmlformats.org/drawingml/2006/main">
              <a:ext uri="{FF2B5EF4-FFF2-40B4-BE49-F238E27FC236}">
                <a16:creationId xmlns:a16="http://schemas.microsoft.com/office/drawing/2014/main" id="{E0D8D4CB-6492-412C-804B-6B5B0EE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一次值得付費的體驗？</a:t>
            </a:r>
          </a:p>
        </p:txBody>
      </p:sp>
      <p:sp>
        <p:nvSpPr>
          <p:cNvPr id="5" name="p2-text-5">
            <a:extLst xmlns:a="http://schemas.openxmlformats.org/drawingml/2006/main">
              <a:ext uri="{FF2B5EF4-FFF2-40B4-BE49-F238E27FC236}">
                <a16:creationId xmlns:a16="http://schemas.microsoft.com/office/drawing/2014/main" id="{990F9E5A-3C71-493C-8644-5D4F2600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一次願意再來的理由？</a:t>
            </a:r>
          </a:p>
        </p:txBody>
      </p:sp>
      <p:sp>
        <p:nvSpPr>
          <p:cNvPr id="6" name="p2-text-6">
            <a:extLst xmlns:a="http://schemas.openxmlformats.org/drawingml/2006/main">
              <a:ext uri="{FF2B5EF4-FFF2-40B4-BE49-F238E27FC236}">
                <a16:creationId xmlns:a16="http://schemas.microsoft.com/office/drawing/2014/main" id="{AB0A243F-B22A-418E-81E5-53A15F3E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-text-7">
            <a:extLst xmlns:a="http://schemas.openxmlformats.org/drawingml/2006/main">
              <a:ext uri="{FF2B5EF4-FFF2-40B4-BE49-F238E27FC236}">
                <a16:creationId xmlns:a16="http://schemas.microsoft.com/office/drawing/2014/main" id="{10AE3B66-62FD-435C-8605-3EBA7905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6430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-text-1">
            <a:extLst xmlns:a="http://schemas.openxmlformats.org/drawingml/2006/main">
              <a:ext uri="{FF2B5EF4-FFF2-40B4-BE49-F238E27FC236}">
                <a16:creationId xmlns:a16="http://schemas.microsoft.com/office/drawing/2014/main" id="{5358CEC6-1726-4104-BF71-9AC5D9D8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3-text-2">
            <a:extLst xmlns:a="http://schemas.openxmlformats.org/drawingml/2006/main">
              <a:ext uri="{FF2B5EF4-FFF2-40B4-BE49-F238E27FC236}">
                <a16:creationId xmlns:a16="http://schemas.microsoft.com/office/drawing/2014/main" id="{7F27E006-E8DC-41A2-916F-89AA138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AI 可以參與行銷的整段工作</a:t>
            </a:r>
          </a:p>
        </p:txBody>
      </p:sp>
      <p:sp>
        <p:nvSpPr>
          <p:cNvPr id="3" name="p3-text-3">
            <a:extLst xmlns:a="http://schemas.openxmlformats.org/drawingml/2006/main">
              <a:ext uri="{FF2B5EF4-FFF2-40B4-BE49-F238E27FC236}">
                <a16:creationId xmlns:a16="http://schemas.microsoft.com/office/drawing/2014/main" id="{C7299C91-5B1A-4FE1-9A12-89FFD67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讀資料，找出值得解決的問題</a:t>
            </a:r>
          </a:p>
        </p:txBody>
      </p:sp>
      <p:sp>
        <p:nvSpPr>
          <p:cNvPr id="4" name="p3-text-4">
            <a:extLst xmlns:a="http://schemas.openxmlformats.org/drawingml/2006/main">
              <a:ext uri="{FF2B5EF4-FFF2-40B4-BE49-F238E27FC236}">
                <a16:creationId xmlns:a16="http://schemas.microsoft.com/office/drawing/2014/main" id="{54F69D37-E18C-4F0C-8A0E-6A58CEB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比較方案，整理成本與限制</a:t>
            </a:r>
          </a:p>
        </p:txBody>
      </p:sp>
      <p:sp>
        <p:nvSpPr>
          <p:cNvPr id="5" name="p3-text-5">
            <a:extLst xmlns:a="http://schemas.openxmlformats.org/drawingml/2006/main">
              <a:ext uri="{FF2B5EF4-FFF2-40B4-BE49-F238E27FC236}">
                <a16:creationId xmlns:a16="http://schemas.microsoft.com/office/drawing/2014/main" id="{DAC5E3EE-C50C-4404-A38D-21C7AC5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起草內容、排程與檢核表</a:t>
            </a:r>
          </a:p>
        </p:txBody>
      </p:sp>
      <p:sp>
        <p:nvSpPr>
          <p:cNvPr id="6" name="p3-text-6">
            <a:extLst xmlns:a="http://schemas.openxmlformats.org/drawingml/2006/main">
              <a:ext uri="{FF2B5EF4-FFF2-40B4-BE49-F238E27FC236}">
                <a16:creationId xmlns:a16="http://schemas.microsoft.com/office/drawing/2014/main" id="{91B54B8F-D9D5-4FA5-9247-C1876E1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-text-7">
            <a:extLst xmlns:a="http://schemas.openxmlformats.org/drawingml/2006/main">
              <a:ext uri="{FF2B5EF4-FFF2-40B4-BE49-F238E27FC236}">
                <a16:creationId xmlns:a16="http://schemas.microsoft.com/office/drawing/2014/main" id="{1105153C-A8C9-4F8E-8BD2-7C9B540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6508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4-text-1">
            <a:extLst xmlns:a="http://schemas.openxmlformats.org/drawingml/2006/main">
              <a:ext uri="{FF2B5EF4-FFF2-40B4-BE49-F238E27FC236}">
                <a16:creationId xmlns:a16="http://schemas.microsoft.com/office/drawing/2014/main" id="{5757B85B-7D3D-4963-B37C-E8CD680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4-text-2">
            <a:extLst xmlns:a="http://schemas.openxmlformats.org/drawingml/2006/main">
              <a:ext uri="{FF2B5EF4-FFF2-40B4-BE49-F238E27FC236}">
                <a16:creationId xmlns:a16="http://schemas.microsoft.com/office/drawing/2014/main" id="{8157B90C-10FF-45EC-A384-98B2656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工具換了，做法也要跟著變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48E56-BB6B-4B03-A320-6677DC11D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cac480a0e46bb"/>
          <a:stretch xmlns:a="http://schemas.openxmlformats.org/drawingml/2006/main"/>
        </p:blipFill>
        <p:spPr>
          <a:xfrm xmlns:a="http://schemas.openxmlformats.org/drawingml/2006/main">
            <a:off x="685800" y="2389063"/>
            <a:ext cx="6191250" cy="3318123"/>
          </a:xfrm>
          <a:prstGeom xmlns:a="http://schemas.openxmlformats.org/drawingml/2006/main" prst="rect">
            <a:avLst/>
          </a:prstGeom>
        </p:spPr>
      </p:pic>
      <p:sp>
        <p:nvSpPr>
          <p:cNvPr id="4" name="p4-text-3">
            <a:extLst xmlns:a="http://schemas.openxmlformats.org/drawingml/2006/main">
              <a:ext uri="{FF2B5EF4-FFF2-40B4-BE49-F238E27FC236}">
                <a16:creationId xmlns:a16="http://schemas.microsoft.com/office/drawing/2014/main" id="{6A6CDE33-DE40-4633-B630-DF4E2BA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4171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只把舊流程做快一點，</a:t>
            </a:r>
          </a:p>
          <a:p xmlns:a="http://schemas.openxmlformats.org/drawingml/2006/main">
            <a:pPr>
              <a:def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可能仍在解錯問題。</a:t>
            </a:r>
          </a:p>
        </p:txBody>
      </p:sp>
      <p:sp>
        <p:nvSpPr>
          <p:cNvPr id="5" name="p4-text-4">
            <a:extLst xmlns:a="http://schemas.openxmlformats.org/drawingml/2006/main">
              <a:ext uri="{FF2B5EF4-FFF2-40B4-BE49-F238E27FC236}">
                <a16:creationId xmlns:a16="http://schemas.microsoft.com/office/drawing/2014/main" id="{D0917930-E103-4968-B50A-051BFA0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原版照片沿用；僅作工作方式的比喻</a:t>
            </a:r>
          </a:p>
        </p:txBody>
      </p:sp>
      <p:sp>
        <p:nvSpPr>
          <p:cNvPr id="6" name="p4-text-5">
            <a:extLst xmlns:a="http://schemas.openxmlformats.org/drawingml/2006/main">
              <a:ext uri="{FF2B5EF4-FFF2-40B4-BE49-F238E27FC236}">
                <a16:creationId xmlns:a16="http://schemas.microsoft.com/office/drawing/2014/main" id="{4DE64879-F303-458A-9863-1F6109ED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1142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5-text-1">
            <a:extLst xmlns:a="http://schemas.openxmlformats.org/drawingml/2006/main">
              <a:ext uri="{FF2B5EF4-FFF2-40B4-BE49-F238E27FC236}">
                <a16:creationId xmlns:a16="http://schemas.microsoft.com/office/drawing/2014/main" id="{1338F3FC-3EF3-4B07-A334-06698A1E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5-text-2">
            <a:extLst xmlns:a="http://schemas.openxmlformats.org/drawingml/2006/main">
              <a:ext uri="{FF2B5EF4-FFF2-40B4-BE49-F238E27FC236}">
                <a16:creationId xmlns:a16="http://schemas.microsoft.com/office/drawing/2014/main" id="{291A8DB5-F6D7-4D5C-9726-F21D67EF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一場咖啡品牌的行銷活動</a:t>
            </a:r>
          </a:p>
        </p:txBody>
      </p:sp>
      <p:sp>
        <p:nvSpPr>
          <p:cNvPr id="3" name="p5-text-3">
            <a:extLst xmlns:a="http://schemas.openxmlformats.org/drawingml/2006/main">
              <a:ext uri="{FF2B5EF4-FFF2-40B4-BE49-F238E27FC236}">
                <a16:creationId xmlns:a16="http://schemas.microsoft.com/office/drawing/2014/main" id="{94F7F547-7697-40EF-9812-463F4EC8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課後咖啡：大學附近的午後空檔</a:t>
            </a:r>
          </a:p>
        </p:txBody>
      </p:sp>
      <p:sp>
        <p:nvSpPr>
          <p:cNvPr id="4" name="p5-text-4">
            <a:extLst xmlns:a="http://schemas.openxmlformats.org/drawingml/2006/main">
              <a:ext uri="{FF2B5EF4-FFF2-40B4-BE49-F238E27FC236}">
                <a16:creationId xmlns:a16="http://schemas.microsoft.com/office/drawing/2014/main" id="{F08E98A3-1D18-457C-A631-1BF768F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想帶來首次消費，再觀察回購</a:t>
            </a:r>
          </a:p>
        </p:txBody>
      </p:sp>
      <p:sp>
        <p:nvSpPr>
          <p:cNvPr id="5" name="p5-text-5">
            <a:extLst xmlns:a="http://schemas.openxmlformats.org/drawingml/2006/main">
              <a:ext uri="{FF2B5EF4-FFF2-40B4-BE49-F238E27FC236}">
                <a16:creationId xmlns:a16="http://schemas.microsoft.com/office/drawing/2014/main" id="{B4BDC8A0-0702-40B1-BB9F-7C39B97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老闆期待：6,000 元、150 位新客</a:t>
            </a:r>
          </a:p>
        </p:txBody>
      </p:sp>
      <p:sp>
        <p:nvSpPr>
          <p:cNvPr id="6" name="p5-text-6">
            <a:extLst xmlns:a="http://schemas.openxmlformats.org/drawingml/2006/main">
              <a:ext uri="{FF2B5EF4-FFF2-40B4-BE49-F238E27FC236}">
                <a16:creationId xmlns:a16="http://schemas.microsoft.com/office/drawing/2014/main" id="{4A8EA283-7DB3-408B-B111-8AA6B08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5-text-7">
            <a:extLst xmlns:a="http://schemas.openxmlformats.org/drawingml/2006/main">
              <a:ext uri="{FF2B5EF4-FFF2-40B4-BE49-F238E27FC236}">
                <a16:creationId xmlns:a16="http://schemas.microsoft.com/office/drawing/2014/main" id="{6AA89550-9B89-45D7-9CDE-C3DB3018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2826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6-text-1">
            <a:extLst xmlns:a="http://schemas.openxmlformats.org/drawingml/2006/main">
              <a:ext uri="{FF2B5EF4-FFF2-40B4-BE49-F238E27FC236}">
                <a16:creationId xmlns:a16="http://schemas.microsoft.com/office/drawing/2014/main" id="{3C88A00B-E250-4BE0-B01B-3249F58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6-text-2">
            <a:extLst xmlns:a="http://schemas.openxmlformats.org/drawingml/2006/main">
              <a:ext uri="{FF2B5EF4-FFF2-40B4-BE49-F238E27FC236}">
                <a16:creationId xmlns:a16="http://schemas.microsoft.com/office/drawing/2014/main" id="{C2A1B52C-2FFF-4935-8F3D-7EB7CA08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先讀資料，再想活動</a:t>
            </a:r>
          </a:p>
        </p:txBody>
      </p:sp>
      <p:sp>
        <p:nvSpPr>
          <p:cNvPr id="3" name="p6-text-3">
            <a:extLst xmlns:a="http://schemas.openxmlformats.org/drawingml/2006/main">
              <a:ext uri="{FF2B5EF4-FFF2-40B4-BE49-F238E27FC236}">
                <a16:creationId xmlns:a16="http://schemas.microsoft.com/office/drawing/2014/main" id="{EEBEBF8D-4809-411A-B5A8-CEEBDBBA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A：觸及 24,000，首次付款新客 24</a:t>
            </a:r>
          </a:p>
        </p:txBody>
      </p:sp>
      <p:sp>
        <p:nvSpPr>
          <p:cNvPr id="4" name="p6-text-4">
            <a:extLst xmlns:a="http://schemas.openxmlformats.org/drawingml/2006/main">
              <a:ext uri="{FF2B5EF4-FFF2-40B4-BE49-F238E27FC236}">
                <a16:creationId xmlns:a16="http://schemas.microsoft.com/office/drawing/2014/main" id="{39EE110B-66DF-4D15-BC3D-21BCD3B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B：觸及 8,000，首次付款新客 72</a:t>
            </a:r>
          </a:p>
        </p:txBody>
      </p:sp>
      <p:sp>
        <p:nvSpPr>
          <p:cNvPr id="5" name="p6-text-5">
            <a:extLst xmlns:a="http://schemas.openxmlformats.org/drawingml/2006/main">
              <a:ext uri="{FF2B5EF4-FFF2-40B4-BE49-F238E27FC236}">
                <a16:creationId xmlns:a16="http://schemas.microsoft.com/office/drawing/2014/main" id="{D7D8ED5D-72D5-4496-AC9B-2C524903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C：觸及 6,000，首次付款新客 60</a:t>
            </a:r>
          </a:p>
        </p:txBody>
      </p:sp>
      <p:sp>
        <p:nvSpPr>
          <p:cNvPr id="6" name="p6-text-6">
            <a:extLst xmlns:a="http://schemas.openxmlformats.org/drawingml/2006/main">
              <a:ext uri="{FF2B5EF4-FFF2-40B4-BE49-F238E27FC236}">
                <a16:creationId xmlns:a16="http://schemas.microsoft.com/office/drawing/2014/main" id="{7C1D625A-B198-4368-B074-19C7A8C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6-text-7">
            <a:extLst xmlns:a="http://schemas.openxmlformats.org/drawingml/2006/main">
              <a:ext uri="{FF2B5EF4-FFF2-40B4-BE49-F238E27FC236}">
                <a16:creationId xmlns:a16="http://schemas.microsoft.com/office/drawing/2014/main" id="{3026E0ED-EDAC-41A5-B737-CD6217E9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9425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7-text-1">
            <a:extLst xmlns:a="http://schemas.openxmlformats.org/drawingml/2006/main">
              <a:ext uri="{FF2B5EF4-FFF2-40B4-BE49-F238E27FC236}">
                <a16:creationId xmlns:a16="http://schemas.microsoft.com/office/drawing/2014/main" id="{C4CC7D22-16E6-4FE3-BB3E-BFA59FEC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7-text-2">
            <a:extLst xmlns:a="http://schemas.openxmlformats.org/drawingml/2006/main">
              <a:ext uri="{FF2B5EF4-FFF2-40B4-BE49-F238E27FC236}">
                <a16:creationId xmlns:a16="http://schemas.microsoft.com/office/drawing/2014/main" id="{6244F702-4799-4D20-A216-BFD6A57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活動方案必須有所取捨</a:t>
            </a:r>
          </a:p>
        </p:txBody>
      </p:sp>
      <p:sp>
        <p:nvSpPr>
          <p:cNvPr id="3" name="p7-text-3">
            <a:extLst xmlns:a="http://schemas.openxmlformats.org/drawingml/2006/main">
              <a:ext uri="{FF2B5EF4-FFF2-40B4-BE49-F238E27FC236}">
                <a16:creationId xmlns:a16="http://schemas.microsoft.com/office/drawing/2014/main" id="{6F5A2221-3457-44AC-A6F2-A33F867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A 曝光較多；B 固定支出／新客較低</a:t>
            </a:r>
          </a:p>
        </p:txBody>
      </p:sp>
      <p:sp>
        <p:nvSpPr>
          <p:cNvPr id="4" name="p7-text-4">
            <a:extLst xmlns:a="http://schemas.openxmlformats.org/drawingml/2006/main">
              <a:ext uri="{FF2B5EF4-FFF2-40B4-BE49-F238E27FC236}">
                <a16:creationId xmlns:a16="http://schemas.microsoft.com/office/drawing/2014/main" id="{442F92AD-F4DB-406B-8341-117480F5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C 觀察到較高回購率與訂單貢獻</a:t>
            </a:r>
          </a:p>
        </p:txBody>
      </p:sp>
      <p:sp>
        <p:nvSpPr>
          <p:cNvPr id="5" name="p7-text-5">
            <a:extLst xmlns:a="http://schemas.openxmlformats.org/drawingml/2006/main">
              <a:ext uri="{FF2B5EF4-FFF2-40B4-BE49-F238E27FC236}">
                <a16:creationId xmlns:a16="http://schemas.microsoft.com/office/drawing/2014/main" id="{0531073D-6634-4ABC-8EA1-9DB27F6E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月份、渠道與客群不同，不能推因果</a:t>
            </a:r>
          </a:p>
        </p:txBody>
      </p:sp>
      <p:sp>
        <p:nvSpPr>
          <p:cNvPr id="6" name="p7-text-6">
            <a:extLst xmlns:a="http://schemas.openxmlformats.org/drawingml/2006/main">
              <a:ext uri="{FF2B5EF4-FFF2-40B4-BE49-F238E27FC236}">
                <a16:creationId xmlns:a16="http://schemas.microsoft.com/office/drawing/2014/main" id="{08C5A5CC-D96D-4DCD-BBF6-6E685F83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7-text-7">
            <a:extLst xmlns:a="http://schemas.openxmlformats.org/drawingml/2006/main">
              <a:ext uri="{FF2B5EF4-FFF2-40B4-BE49-F238E27FC236}">
                <a16:creationId xmlns:a16="http://schemas.microsoft.com/office/drawing/2014/main" id="{80A74253-B6D6-492B-AA85-50D879B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473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8-text-1">
            <a:extLst xmlns:a="http://schemas.openxmlformats.org/drawingml/2006/main">
              <a:ext uri="{FF2B5EF4-FFF2-40B4-BE49-F238E27FC236}">
                <a16:creationId xmlns:a16="http://schemas.microsoft.com/office/drawing/2014/main" id="{21CCCDEA-0CF9-4363-BF95-6EE7290A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8-text-2">
            <a:extLst xmlns:a="http://schemas.openxmlformats.org/drawingml/2006/main">
              <a:ext uri="{FF2B5EF4-FFF2-40B4-BE49-F238E27FC236}">
                <a16:creationId xmlns:a16="http://schemas.microsoft.com/office/drawing/2014/main" id="{A2B854CD-9B34-4ED0-9697-57D4C00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示範一：從資料選方案</a:t>
            </a:r>
          </a:p>
        </p:txBody>
      </p:sp>
      <p:sp>
        <p:nvSpPr>
          <p:cNvPr id="3" name="p8-text-3">
            <a:extLst xmlns:a="http://schemas.openxmlformats.org/drawingml/2006/main">
              <a:ext uri="{FF2B5EF4-FFF2-40B4-BE49-F238E27FC236}">
                <a16:creationId xmlns:a16="http://schemas.microsoft.com/office/drawing/2014/main" id="{E4CD6B43-E4C5-44F1-B1D7-9C64BEE7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Zell 給目標、客群與限制</a:t>
            </a:r>
          </a:p>
        </p:txBody>
      </p:sp>
      <p:sp>
        <p:nvSpPr>
          <p:cNvPr id="4" name="p8-text-4">
            <a:extLst xmlns:a="http://schemas.openxmlformats.org/drawingml/2006/main">
              <a:ext uri="{FF2B5EF4-FFF2-40B4-BE49-F238E27FC236}">
                <a16:creationId xmlns:a16="http://schemas.microsoft.com/office/drawing/2014/main" id="{27BEC256-5769-4D4C-829E-290B235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EVA 比較選項，提出理由</a:t>
            </a:r>
          </a:p>
        </p:txBody>
      </p:sp>
      <p:sp>
        <p:nvSpPr>
          <p:cNvPr id="5" name="p8-text-5">
            <a:extLst xmlns:a="http://schemas.openxmlformats.org/drawingml/2006/main">
              <a:ext uri="{FF2B5EF4-FFF2-40B4-BE49-F238E27FC236}">
                <a16:creationId xmlns:a16="http://schemas.microsoft.com/office/drawing/2014/main" id="{96FB5968-F917-4C42-BFA3-CCBE414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 追問依據與資源取捨</a:t>
            </a:r>
          </a:p>
        </p:txBody>
      </p:sp>
      <p:sp>
        <p:nvSpPr>
          <p:cNvPr id="6" name="p8-text-6">
            <a:extLst xmlns:a="http://schemas.openxmlformats.org/drawingml/2006/main">
              <a:ext uri="{FF2B5EF4-FFF2-40B4-BE49-F238E27FC236}">
                <a16:creationId xmlns:a16="http://schemas.microsoft.com/office/drawing/2014/main" id="{677ABA44-A756-4198-8FE1-5465495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8-text-7">
            <a:extLst xmlns:a="http://schemas.openxmlformats.org/drawingml/2006/main">
              <a:ext uri="{FF2B5EF4-FFF2-40B4-BE49-F238E27FC236}">
                <a16:creationId xmlns:a16="http://schemas.microsoft.com/office/drawing/2014/main" id="{7884ADA0-1362-40C6-BA78-6AE1D3FC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3389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9-text-1">
            <a:extLst xmlns:a="http://schemas.openxmlformats.org/drawingml/2006/main">
              <a:ext uri="{FF2B5EF4-FFF2-40B4-BE49-F238E27FC236}">
                <a16:creationId xmlns:a16="http://schemas.microsoft.com/office/drawing/2014/main" id="{EFFE492D-DBDA-4A0B-AFED-CEE07EE9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9-text-2">
            <a:extLst xmlns:a="http://schemas.openxmlformats.org/drawingml/2006/main">
              <a:ext uri="{FF2B5EF4-FFF2-40B4-BE49-F238E27FC236}">
                <a16:creationId xmlns:a16="http://schemas.microsoft.com/office/drawing/2014/main" id="{E7D49BD0-E2FA-4E69-B455-0494719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「你為什麼選這個方案？」</a:t>
            </a:r>
          </a:p>
        </p:txBody>
      </p:sp>
      <p:sp>
        <p:nvSpPr>
          <p:cNvPr id="3" name="p9-text-3">
            <a:extLst xmlns:a="http://schemas.openxmlformats.org/drawingml/2006/main">
              <a:ext uri="{FF2B5EF4-FFF2-40B4-BE49-F238E27FC236}">
                <a16:creationId xmlns:a16="http://schemas.microsoft.com/office/drawing/2014/main" id="{8343E973-7B9A-4639-A925-3B2ACA1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Zell：先給結論，再列出證據。</a:t>
            </a:r>
          </a:p>
        </p:txBody>
      </p:sp>
      <p:sp>
        <p:nvSpPr>
          <p:cNvPr id="4" name="p9-text-4">
            <a:extLst xmlns:a="http://schemas.openxmlformats.org/drawingml/2006/main">
              <a:ext uri="{FF2B5EF4-FFF2-40B4-BE49-F238E27FC236}">
                <a16:creationId xmlns:a16="http://schemas.microsoft.com/office/drawing/2014/main" id="{0B0DB252-CA36-41D4-977D-299BC95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EVA：把已知、假設與待確認分開。</a:t>
            </a:r>
          </a:p>
        </p:txBody>
      </p:sp>
      <p:sp>
        <p:nvSpPr>
          <p:cNvPr id="5" name="p9-text-5">
            <a:extLst xmlns:a="http://schemas.openxmlformats.org/drawingml/2006/main">
              <a:ext uri="{FF2B5EF4-FFF2-40B4-BE49-F238E27FC236}">
                <a16:creationId xmlns:a16="http://schemas.microsoft.com/office/drawing/2014/main" id="{557D0C54-C4A0-40A2-AFE9-7DE3F16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6" name="p9-text-6">
            <a:extLst xmlns:a="http://schemas.openxmlformats.org/drawingml/2006/main">
              <a:ext uri="{FF2B5EF4-FFF2-40B4-BE49-F238E27FC236}">
                <a16:creationId xmlns:a16="http://schemas.microsoft.com/office/drawing/2014/main" id="{6115336F-56D1-40AA-A6CA-E068EF4E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291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0-text-1">
            <a:extLst xmlns:a="http://schemas.openxmlformats.org/drawingml/2006/main">
              <a:ext uri="{FF2B5EF4-FFF2-40B4-BE49-F238E27FC236}">
                <a16:creationId xmlns:a16="http://schemas.microsoft.com/office/drawing/2014/main" id="{B0A5080B-07BA-40FB-948E-B21E6C00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0-text-2">
            <a:extLst xmlns:a="http://schemas.openxmlformats.org/drawingml/2006/main">
              <a:ext uri="{FF2B5EF4-FFF2-40B4-BE49-F238E27FC236}">
                <a16:creationId xmlns:a16="http://schemas.microsoft.com/office/drawing/2014/main" id="{79293E77-FD9D-4A23-98B5-52705EC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選擇的理由，要能被追問</a:t>
            </a:r>
          </a:p>
        </p:txBody>
      </p:sp>
      <p:sp>
        <p:nvSpPr>
          <p:cNvPr id="3" name="p10-text-3">
            <a:extLst xmlns:a="http://schemas.openxmlformats.org/drawingml/2006/main">
              <a:ext uri="{FF2B5EF4-FFF2-40B4-BE49-F238E27FC236}">
                <a16:creationId xmlns:a16="http://schemas.microsoft.com/office/drawing/2014/main" id="{BD88EC07-56D5-415A-A2C7-0F6306EC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150 位新客：初始期待</a:t>
            </a:r>
          </a:p>
        </p:txBody>
      </p:sp>
      <p:sp>
        <p:nvSpPr>
          <p:cNvPr id="4" name="p10-text-4">
            <a:extLst xmlns:a="http://schemas.openxmlformats.org/drawingml/2006/main">
              <a:ext uri="{FF2B5EF4-FFF2-40B4-BE49-F238E27FC236}">
                <a16:creationId xmlns:a16="http://schemas.microsoft.com/office/drawing/2014/main" id="{AC797F75-BEF9-4314-999C-FC34628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實際容量：12 筆／日，規劃 10 名額</a:t>
            </a:r>
          </a:p>
        </p:txBody>
      </p:sp>
      <p:sp>
        <p:nvSpPr>
          <p:cNvPr id="5" name="p10-text-5">
            <a:extLst xmlns:a="http://schemas.openxmlformats.org/drawingml/2006/main">
              <a:ext uri="{FF2B5EF4-FFF2-40B4-BE49-F238E27FC236}">
                <a16:creationId xmlns:a16="http://schemas.microsoft.com/office/drawing/2014/main" id="{8E83E59F-D05C-4B74-BB4B-74EAB6DE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修訂試行：80 筆、60 新客、18 位30天回購</a:t>
            </a:r>
          </a:p>
        </p:txBody>
      </p:sp>
      <p:sp>
        <p:nvSpPr>
          <p:cNvPr id="6" name="p10-text-6">
            <a:extLst xmlns:a="http://schemas.openxmlformats.org/drawingml/2006/main">
              <a:ext uri="{FF2B5EF4-FFF2-40B4-BE49-F238E27FC236}">
                <a16:creationId xmlns:a16="http://schemas.microsoft.com/office/drawing/2014/main" id="{82191EBF-2FE2-4377-A8D4-2594A3E6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0-text-7">
            <a:extLst xmlns:a="http://schemas.openxmlformats.org/drawingml/2006/main">
              <a:ext uri="{FF2B5EF4-FFF2-40B4-BE49-F238E27FC236}">
                <a16:creationId xmlns:a16="http://schemas.microsoft.com/office/drawing/2014/main" id="{4B1A119A-C2BF-4061-9C76-5A90D3C8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7647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1-text-1">
            <a:extLst xmlns:a="http://schemas.openxmlformats.org/drawingml/2006/main">
              <a:ext uri="{FF2B5EF4-FFF2-40B4-BE49-F238E27FC236}">
                <a16:creationId xmlns:a16="http://schemas.microsoft.com/office/drawing/2014/main" id="{B3846BF5-0F65-47AB-8EAF-A1EFA23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1-text-2">
            <a:extLst xmlns:a="http://schemas.openxmlformats.org/drawingml/2006/main">
              <a:ext uri="{FF2B5EF4-FFF2-40B4-BE49-F238E27FC236}">
                <a16:creationId xmlns:a16="http://schemas.microsoft.com/office/drawing/2014/main" id="{7E60F945-2AB9-410C-8162-8654D63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資源花在哪裡，策略就在哪裡</a:t>
            </a:r>
          </a:p>
        </p:txBody>
      </p:sp>
      <p:sp>
        <p:nvSpPr>
          <p:cNvPr id="3" name="p11-text-3">
            <a:extLst xmlns:a="http://schemas.openxmlformats.org/drawingml/2006/main">
              <a:ext uri="{FF2B5EF4-FFF2-40B4-BE49-F238E27FC236}">
                <a16:creationId xmlns:a16="http://schemas.microsoft.com/office/drawing/2014/main" id="{9746474E-AD89-4790-A57E-70876CC0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3,000 廣告＋1,000 素材＋500 告示</a:t>
            </a:r>
          </a:p>
        </p:txBody>
      </p:sp>
      <p:sp>
        <p:nvSpPr>
          <p:cNvPr id="4" name="p11-text-4">
            <a:extLst xmlns:a="http://schemas.openxmlformats.org/drawingml/2006/main">
              <a:ext uri="{FF2B5EF4-FFF2-40B4-BE49-F238E27FC236}">
                <a16:creationId xmlns:a16="http://schemas.microsoft.com/office/drawing/2014/main" id="{834F99E0-F845-4BE2-88D5-366F0BE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4,500 元提案支出，1,500 元保留</a:t>
            </a:r>
          </a:p>
        </p:txBody>
      </p:sp>
      <p:sp>
        <p:nvSpPr>
          <p:cNvPr id="5" name="p11-text-5">
            <a:extLst xmlns:a="http://schemas.openxmlformats.org/drawingml/2006/main">
              <a:ext uri="{FF2B5EF4-FFF2-40B4-BE49-F238E27FC236}">
                <a16:creationId xmlns:a16="http://schemas.microsoft.com/office/drawing/2014/main" id="{D5C14A0A-FFCD-486E-9D89-98407E98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80 筆情境：活動餘額 3,500 元，非淨利</a:t>
            </a:r>
          </a:p>
        </p:txBody>
      </p:sp>
      <p:sp>
        <p:nvSpPr>
          <p:cNvPr id="6" name="p11-text-6">
            <a:extLst xmlns:a="http://schemas.openxmlformats.org/drawingml/2006/main">
              <a:ext uri="{FF2B5EF4-FFF2-40B4-BE49-F238E27FC236}">
                <a16:creationId xmlns:a16="http://schemas.microsoft.com/office/drawing/2014/main" id="{F9B69C27-C870-4624-80AF-65ACD90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1-text-7">
            <a:extLst xmlns:a="http://schemas.openxmlformats.org/drawingml/2006/main">
              <a:ext uri="{FF2B5EF4-FFF2-40B4-BE49-F238E27FC236}">
                <a16:creationId xmlns:a16="http://schemas.microsoft.com/office/drawing/2014/main" id="{7140612A-F749-4A6F-A40B-D7192C7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99515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2-text-1">
            <a:extLst xmlns:a="http://schemas.openxmlformats.org/drawingml/2006/main">
              <a:ext uri="{FF2B5EF4-FFF2-40B4-BE49-F238E27FC236}">
                <a16:creationId xmlns:a16="http://schemas.microsoft.com/office/drawing/2014/main" id="{A52967D0-C7A4-472E-B061-FE7AC4FD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2-text-2">
            <a:extLst xmlns:a="http://schemas.openxmlformats.org/drawingml/2006/main">
              <a:ext uri="{FF2B5EF4-FFF2-40B4-BE49-F238E27FC236}">
                <a16:creationId xmlns:a16="http://schemas.microsoft.com/office/drawing/2014/main" id="{7FB91407-AF6F-4C45-95B1-CDCC3AD6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目標與保證是兩回事</a:t>
            </a:r>
          </a:p>
        </p:txBody>
      </p:sp>
      <p:sp>
        <p:nvSpPr>
          <p:cNvPr id="3" name="p12-text-3">
            <a:extLst xmlns:a="http://schemas.openxmlformats.org/drawingml/2006/main">
              <a:ext uri="{FF2B5EF4-FFF2-40B4-BE49-F238E27FC236}">
                <a16:creationId xmlns:a16="http://schemas.microsoft.com/office/drawing/2014/main" id="{1BDB26B5-6881-4AB0-A055-1DAACE7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目標：希望達到的結果</a:t>
            </a:r>
          </a:p>
        </p:txBody>
      </p:sp>
      <p:sp>
        <p:nvSpPr>
          <p:cNvPr id="4" name="p12-text-4">
            <a:extLst xmlns:a="http://schemas.openxmlformats.org/drawingml/2006/main">
              <a:ext uri="{FF2B5EF4-FFF2-40B4-BE49-F238E27FC236}">
                <a16:creationId xmlns:a16="http://schemas.microsoft.com/office/drawing/2014/main" id="{ADB50555-E540-4795-B802-5C3F327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預估：在假設下推算的結果</a:t>
            </a:r>
          </a:p>
        </p:txBody>
      </p:sp>
      <p:sp>
        <p:nvSpPr>
          <p:cNvPr id="5" name="p12-text-5">
            <a:extLst xmlns:a="http://schemas.openxmlformats.org/drawingml/2006/main">
              <a:ext uri="{FF2B5EF4-FFF2-40B4-BE49-F238E27FC236}">
                <a16:creationId xmlns:a16="http://schemas.microsoft.com/office/drawing/2014/main" id="{819FF677-1A8E-426E-B974-2274A6C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承諾：已確認能交付的內容</a:t>
            </a:r>
          </a:p>
        </p:txBody>
      </p:sp>
      <p:sp>
        <p:nvSpPr>
          <p:cNvPr id="6" name="p12-text-6">
            <a:extLst xmlns:a="http://schemas.openxmlformats.org/drawingml/2006/main">
              <a:ext uri="{FF2B5EF4-FFF2-40B4-BE49-F238E27FC236}">
                <a16:creationId xmlns:a16="http://schemas.microsoft.com/office/drawing/2014/main" id="{94343DAC-5DFB-4E21-984C-54ECD18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2-text-7">
            <a:extLst xmlns:a="http://schemas.openxmlformats.org/drawingml/2006/main">
              <a:ext uri="{FF2B5EF4-FFF2-40B4-BE49-F238E27FC236}">
                <a16:creationId xmlns:a16="http://schemas.microsoft.com/office/drawing/2014/main" id="{CCAFBB90-07E6-440E-938C-BFC7934F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27831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3-text-1">
            <a:extLst xmlns:a="http://schemas.openxmlformats.org/drawingml/2006/main">
              <a:ext uri="{FF2B5EF4-FFF2-40B4-BE49-F238E27FC236}">
                <a16:creationId xmlns:a16="http://schemas.microsoft.com/office/drawing/2014/main" id="{BCBEAF9E-0454-46B0-8D64-8046AD41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3-text-2">
            <a:extLst xmlns:a="http://schemas.openxmlformats.org/drawingml/2006/main">
              <a:ext uri="{FF2B5EF4-FFF2-40B4-BE49-F238E27FC236}">
                <a16:creationId xmlns:a16="http://schemas.microsoft.com/office/drawing/2014/main" id="{A6990388-E4D7-4427-8421-A325565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一個方案，需要多種交付物</a:t>
            </a:r>
          </a:p>
        </p:txBody>
      </p:sp>
      <p:sp>
        <p:nvSpPr>
          <p:cNvPr id="3" name="p13-text-3">
            <a:extLst xmlns:a="http://schemas.openxmlformats.org/drawingml/2006/main">
              <a:ext uri="{FF2B5EF4-FFF2-40B4-BE49-F238E27FC236}">
                <a16:creationId xmlns:a16="http://schemas.microsoft.com/office/drawing/2014/main" id="{A36156DA-BF88-4153-BCF6-660B9F0B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執行表：誰、何時、做完算什麼</a:t>
            </a:r>
          </a:p>
        </p:txBody>
      </p:sp>
      <p:sp>
        <p:nvSpPr>
          <p:cNvPr id="4" name="p13-text-4">
            <a:extLst xmlns:a="http://schemas.openxmlformats.org/drawingml/2006/main">
              <a:ext uri="{FF2B5EF4-FFF2-40B4-BE49-F238E27FC236}">
                <a16:creationId xmlns:a16="http://schemas.microsoft.com/office/drawing/2014/main" id="{E5CD35A1-26FB-4BAF-B8E9-900708AA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對外文案：能說什麼，不能保證什麼</a:t>
            </a:r>
          </a:p>
        </p:txBody>
      </p:sp>
      <p:sp>
        <p:nvSpPr>
          <p:cNvPr id="5" name="p13-text-5">
            <a:extLst xmlns:a="http://schemas.openxmlformats.org/drawingml/2006/main">
              <a:ext uri="{FF2B5EF4-FFF2-40B4-BE49-F238E27FC236}">
                <a16:creationId xmlns:a16="http://schemas.microsoft.com/office/drawing/2014/main" id="{EB8350AF-4F52-4619-B69C-0C12772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衡量表：如何知道活動有沒有用</a:t>
            </a:r>
          </a:p>
        </p:txBody>
      </p:sp>
      <p:sp>
        <p:nvSpPr>
          <p:cNvPr id="6" name="p13-text-6">
            <a:extLst xmlns:a="http://schemas.openxmlformats.org/drawingml/2006/main">
              <a:ext uri="{FF2B5EF4-FFF2-40B4-BE49-F238E27FC236}">
                <a16:creationId xmlns:a16="http://schemas.microsoft.com/office/drawing/2014/main" id="{92BD4CBE-42DD-43B1-BBD8-70DC755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3-text-7">
            <a:extLst xmlns:a="http://schemas.openxmlformats.org/drawingml/2006/main">
              <a:ext uri="{FF2B5EF4-FFF2-40B4-BE49-F238E27FC236}">
                <a16:creationId xmlns:a16="http://schemas.microsoft.com/office/drawing/2014/main" id="{81AE62E5-D1AC-4B6D-8C9A-78B2000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1270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4-text-1">
            <a:extLst xmlns:a="http://schemas.openxmlformats.org/drawingml/2006/main">
              <a:ext uri="{FF2B5EF4-FFF2-40B4-BE49-F238E27FC236}">
                <a16:creationId xmlns:a16="http://schemas.microsoft.com/office/drawing/2014/main" id="{5B9524D8-0C80-4F35-8DD6-24B4C5A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4-text-2">
            <a:extLst xmlns:a="http://schemas.openxmlformats.org/drawingml/2006/main">
              <a:ext uri="{FF2B5EF4-FFF2-40B4-BE49-F238E27FC236}">
                <a16:creationId xmlns:a16="http://schemas.microsoft.com/office/drawing/2014/main" id="{2C3968C4-2983-412A-BD2B-E72DA28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示範二：把方案變成行動</a:t>
            </a:r>
          </a:p>
        </p:txBody>
      </p:sp>
      <p:sp>
        <p:nvSpPr>
          <p:cNvPr id="3" name="p14-text-3">
            <a:extLst xmlns:a="http://schemas.openxmlformats.org/drawingml/2006/main">
              <a:ext uri="{FF2B5EF4-FFF2-40B4-BE49-F238E27FC236}">
                <a16:creationId xmlns:a16="http://schemas.microsoft.com/office/drawing/2014/main" id="{489CC6F8-9513-47EB-AB23-1F6DCB0A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Zell 給方案與會議紀錄</a:t>
            </a:r>
          </a:p>
        </p:txBody>
      </p:sp>
      <p:sp>
        <p:nvSpPr>
          <p:cNvPr id="4" name="p14-text-4">
            <a:extLst xmlns:a="http://schemas.openxmlformats.org/drawingml/2006/main">
              <a:ext uri="{FF2B5EF4-FFF2-40B4-BE49-F238E27FC236}">
                <a16:creationId xmlns:a16="http://schemas.microsoft.com/office/drawing/2014/main" id="{DE1DF63C-5E6A-4FD0-AF80-CB2BE8C2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EVA 整理交辦與待審文案</a:t>
            </a:r>
          </a:p>
        </p:txBody>
      </p:sp>
      <p:sp>
        <p:nvSpPr>
          <p:cNvPr id="5" name="p14-text-5">
            <a:extLst xmlns:a="http://schemas.openxmlformats.org/drawingml/2006/main">
              <a:ext uri="{FF2B5EF4-FFF2-40B4-BE49-F238E27FC236}">
                <a16:creationId xmlns:a16="http://schemas.microsoft.com/office/drawing/2014/main" id="{A44CCB73-7B7A-4124-A68D-FE049C4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 修正承諾與衡量方式</a:t>
            </a:r>
          </a:p>
        </p:txBody>
      </p:sp>
      <p:sp>
        <p:nvSpPr>
          <p:cNvPr id="6" name="p14-text-6">
            <a:extLst xmlns:a="http://schemas.openxmlformats.org/drawingml/2006/main">
              <a:ext uri="{FF2B5EF4-FFF2-40B4-BE49-F238E27FC236}">
                <a16:creationId xmlns:a16="http://schemas.microsoft.com/office/drawing/2014/main" id="{A9FCE21A-B45B-4CB5-983D-8D562552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4-text-7">
            <a:extLst xmlns:a="http://schemas.openxmlformats.org/drawingml/2006/main">
              <a:ext uri="{FF2B5EF4-FFF2-40B4-BE49-F238E27FC236}">
                <a16:creationId xmlns:a16="http://schemas.microsoft.com/office/drawing/2014/main" id="{86D8C7B1-E8DF-4323-9999-BF44B3DC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7907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15-text-1">
            <a:extLst xmlns:a="http://schemas.openxmlformats.org/drawingml/2006/main">
              <a:ext uri="{FF2B5EF4-FFF2-40B4-BE49-F238E27FC236}">
                <a16:creationId xmlns:a16="http://schemas.microsoft.com/office/drawing/2014/main" id="{0B49FDA7-5FAD-485B-A5B3-93169F21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5-text-2">
            <a:extLst xmlns:a="http://schemas.openxmlformats.org/drawingml/2006/main">
              <a:ext uri="{FF2B5EF4-FFF2-40B4-BE49-F238E27FC236}">
                <a16:creationId xmlns:a16="http://schemas.microsoft.com/office/drawing/2014/main" id="{98181D79-CC38-4BC2-B50A-22F2D8A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「這句話，我們真的能說嗎？」</a:t>
            </a:r>
          </a:p>
        </p:txBody>
      </p:sp>
      <p:sp>
        <p:nvSpPr>
          <p:cNvPr id="3" name="p15-text-3">
            <a:extLst xmlns:a="http://schemas.openxmlformats.org/drawingml/2006/main">
              <a:ext uri="{FF2B5EF4-FFF2-40B4-BE49-F238E27FC236}">
                <a16:creationId xmlns:a16="http://schemas.microsoft.com/office/drawing/2014/main" id="{29C0C987-5D9E-4912-9156-DBCF28C9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Zell：哪些是決議，哪些仍待核准？</a:t>
            </a:r>
          </a:p>
        </p:txBody>
      </p:sp>
      <p:sp>
        <p:nvSpPr>
          <p:cNvPr id="4" name="p15-text-4">
            <a:extLst xmlns:a="http://schemas.openxmlformats.org/drawingml/2006/main">
              <a:ext uri="{FF2B5EF4-FFF2-40B4-BE49-F238E27FC236}">
                <a16:creationId xmlns:a16="http://schemas.microsoft.com/office/drawing/2014/main" id="{181DFDCD-F78A-4368-8A6A-E422068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57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EVA：文案可以起草；未定責任仍要列出。</a:t>
            </a:r>
          </a:p>
        </p:txBody>
      </p:sp>
      <p:sp>
        <p:nvSpPr>
          <p:cNvPr id="5" name="p15-text-5">
            <a:extLst xmlns:a="http://schemas.openxmlformats.org/drawingml/2006/main">
              <a:ext uri="{FF2B5EF4-FFF2-40B4-BE49-F238E27FC236}">
                <a16:creationId xmlns:a16="http://schemas.microsoft.com/office/drawing/2014/main" id="{AD777684-8921-40E1-8C68-508ED30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6" name="p15-text-6">
            <a:extLst xmlns:a="http://schemas.openxmlformats.org/drawingml/2006/main">
              <a:ext uri="{FF2B5EF4-FFF2-40B4-BE49-F238E27FC236}">
                <a16:creationId xmlns:a16="http://schemas.microsoft.com/office/drawing/2014/main" id="{75F53793-674A-4BCE-8462-B8AAB99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31178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6-text-1">
            <a:extLst xmlns:a="http://schemas.openxmlformats.org/drawingml/2006/main">
              <a:ext uri="{FF2B5EF4-FFF2-40B4-BE49-F238E27FC236}">
                <a16:creationId xmlns:a16="http://schemas.microsoft.com/office/drawing/2014/main" id="{7B6EB9D8-0F38-4B0F-9FB0-BB951AC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6-text-2">
            <a:extLst xmlns:a="http://schemas.openxmlformats.org/drawingml/2006/main">
              <a:ext uri="{FF2B5EF4-FFF2-40B4-BE49-F238E27FC236}">
                <a16:creationId xmlns:a16="http://schemas.microsoft.com/office/drawing/2014/main" id="{57F2C0B9-0982-431C-95FB-9D6A5CCD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修正後，才是可審閱的版本</a:t>
            </a:r>
          </a:p>
        </p:txBody>
      </p:sp>
      <p:sp>
        <p:nvSpPr>
          <p:cNvPr id="3" name="p16-text-3">
            <a:extLst xmlns:a="http://schemas.openxmlformats.org/drawingml/2006/main">
              <a:ext uri="{FF2B5EF4-FFF2-40B4-BE49-F238E27FC236}">
                <a16:creationId xmlns:a16="http://schemas.microsoft.com/office/drawing/2014/main" id="{B90EE838-DAC7-4EC1-9E90-8B5BF16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每日 10 組；內用依現場座位</a:t>
            </a:r>
          </a:p>
        </p:txBody>
      </p:sp>
      <p:sp>
        <p:nvSpPr>
          <p:cNvPr id="4" name="p16-text-4">
            <a:extLst xmlns:a="http://schemas.openxmlformats.org/drawingml/2006/main">
              <a:ext uri="{FF2B5EF4-FFF2-40B4-BE49-F238E27FC236}">
                <a16:creationId xmlns:a16="http://schemas.microsoft.com/office/drawing/2014/main" id="{FA091DF6-C41A-4BAC-82D2-1A22355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指定品項、領券與核銷方式待核准</a:t>
            </a:r>
          </a:p>
        </p:txBody>
      </p:sp>
      <p:sp>
        <p:nvSpPr>
          <p:cNvPr id="5" name="p16-text-5">
            <a:extLst xmlns:a="http://schemas.openxmlformats.org/drawingml/2006/main">
              <a:ext uri="{FF2B5EF4-FFF2-40B4-BE49-F238E27FC236}">
                <a16:creationId xmlns:a16="http://schemas.microsoft.com/office/drawing/2014/main" id="{1D35051D-4309-471B-96F6-56069BA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所有內容均為待審稿，尚未發布</a:t>
            </a:r>
          </a:p>
        </p:txBody>
      </p:sp>
      <p:sp>
        <p:nvSpPr>
          <p:cNvPr id="6" name="p16-text-6">
            <a:extLst xmlns:a="http://schemas.openxmlformats.org/drawingml/2006/main">
              <a:ext uri="{FF2B5EF4-FFF2-40B4-BE49-F238E27FC236}">
                <a16:creationId xmlns:a16="http://schemas.microsoft.com/office/drawing/2014/main" id="{D8224DBC-2487-4256-9415-C908A767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6-text-7">
            <a:extLst xmlns:a="http://schemas.openxmlformats.org/drawingml/2006/main">
              <a:ext uri="{FF2B5EF4-FFF2-40B4-BE49-F238E27FC236}">
                <a16:creationId xmlns:a16="http://schemas.microsoft.com/office/drawing/2014/main" id="{725A396D-883D-43B9-9576-2BC809A3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6881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17-text-1">
            <a:extLst xmlns:a="http://schemas.openxmlformats.org/drawingml/2006/main">
              <a:ext uri="{FF2B5EF4-FFF2-40B4-BE49-F238E27FC236}">
                <a16:creationId xmlns:a16="http://schemas.microsoft.com/office/drawing/2014/main" id="{1416F50D-7DA5-48C8-B14A-CE4596D2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7-text-2">
            <a:extLst xmlns:a="http://schemas.openxmlformats.org/drawingml/2006/main">
              <a:ext uri="{FF2B5EF4-FFF2-40B4-BE49-F238E27FC236}">
                <a16:creationId xmlns:a16="http://schemas.microsoft.com/office/drawing/2014/main" id="{0AF4C21C-4FA8-473D-80AB-FA7F135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有結果，還要能解釋結果</a:t>
            </a:r>
          </a:p>
        </p:txBody>
      </p:sp>
      <p:sp>
        <p:nvSpPr>
          <p:cNvPr id="3" name="p17-text-3">
            <a:extLst xmlns:a="http://schemas.openxmlformats.org/drawingml/2006/main">
              <a:ext uri="{FF2B5EF4-FFF2-40B4-BE49-F238E27FC236}">
                <a16:creationId xmlns:a16="http://schemas.microsoft.com/office/drawing/2014/main" id="{4591AE5F-1F5A-474C-80F5-434FE16D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訂單、新客、回購，分開記錄</a:t>
            </a:r>
          </a:p>
        </p:txBody>
      </p:sp>
      <p:sp>
        <p:nvSpPr>
          <p:cNvPr id="4" name="p17-text-4">
            <a:extLst xmlns:a="http://schemas.openxmlformats.org/drawingml/2006/main">
              <a:ext uri="{FF2B5EF4-FFF2-40B4-BE49-F238E27FC236}">
                <a16:creationId xmlns:a16="http://schemas.microsoft.com/office/drawing/2014/main" id="{872D7F1C-02F7-46AB-A9B9-77B0EAB8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11/13 活動結束，回購仍在追蹤</a:t>
            </a:r>
          </a:p>
        </p:txBody>
      </p:sp>
      <p:sp>
        <p:nvSpPr>
          <p:cNvPr id="5" name="p17-text-5">
            <a:extLst xmlns:a="http://schemas.openxmlformats.org/drawingml/2006/main">
              <a:ext uri="{FF2B5EF4-FFF2-40B4-BE49-F238E27FC236}">
                <a16:creationId xmlns:a16="http://schemas.microsoft.com/office/drawing/2014/main" id="{9A23D93D-0CE1-419F-9A03-DBF4A54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最後一批觀察滿 30 天：12/13</a:t>
            </a:r>
          </a:p>
        </p:txBody>
      </p:sp>
      <p:sp>
        <p:nvSpPr>
          <p:cNvPr id="6" name="p17-text-6">
            <a:extLst xmlns:a="http://schemas.openxmlformats.org/drawingml/2006/main">
              <a:ext uri="{FF2B5EF4-FFF2-40B4-BE49-F238E27FC236}">
                <a16:creationId xmlns:a16="http://schemas.microsoft.com/office/drawing/2014/main" id="{99A35A4D-C9C9-4AEC-BBD4-46549D2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虛構教學模擬，不是真實店家或成效｜輸出待審</a:t>
            </a:r>
          </a:p>
        </p:txBody>
      </p:sp>
      <p:sp>
        <p:nvSpPr>
          <p:cNvPr id="7" name="p17-text-7">
            <a:extLst xmlns:a="http://schemas.openxmlformats.org/drawingml/2006/main">
              <a:ext uri="{FF2B5EF4-FFF2-40B4-BE49-F238E27FC236}">
                <a16:creationId xmlns:a16="http://schemas.microsoft.com/office/drawing/2014/main" id="{9653B49C-1066-4BC7-AA6F-90FDA3BF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19138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18-text-1">
            <a:extLst xmlns:a="http://schemas.openxmlformats.org/drawingml/2006/main">
              <a:ext uri="{FF2B5EF4-FFF2-40B4-BE49-F238E27FC236}">
                <a16:creationId xmlns:a16="http://schemas.microsoft.com/office/drawing/2014/main" id="{761F19C9-3192-454B-86A5-8C42C147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看見 AI 的行銷能力</a:t>
            </a:r>
          </a:p>
        </p:txBody>
      </p:sp>
      <p:sp>
        <p:nvSpPr>
          <p:cNvPr id="2" name="p18-text-2">
            <a:extLst xmlns:a="http://schemas.openxmlformats.org/drawingml/2006/main">
              <a:ext uri="{FF2B5EF4-FFF2-40B4-BE49-F238E27FC236}">
                <a16:creationId xmlns:a16="http://schemas.microsoft.com/office/drawing/2014/main" id="{5252A0D9-3747-48AB-A553-E0291FD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AI 能做這麼多，</a:t>
            </a:r>
          </a:p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企業還需要人做什麼？</a:t>
            </a:r>
          </a:p>
        </p:txBody>
      </p:sp>
      <p:sp>
        <p:nvSpPr>
          <p:cNvPr id="3" name="p18-text-3">
            <a:extLst xmlns:a="http://schemas.openxmlformats.org/drawingml/2006/main">
              <a:ext uri="{FF2B5EF4-FFF2-40B4-BE49-F238E27FC236}">
                <a16:creationId xmlns:a16="http://schemas.microsoft.com/office/drawing/2014/main" id="{910F3D7F-B0A5-4868-800D-2F9E192D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先把這個問題留著。</a:t>
            </a:r>
          </a:p>
        </p:txBody>
      </p:sp>
      <p:sp>
        <p:nvSpPr>
          <p:cNvPr id="4" name="p18-text-4">
            <a:extLst xmlns:a="http://schemas.openxmlformats.org/drawingml/2006/main">
              <a:ext uri="{FF2B5EF4-FFF2-40B4-BE49-F238E27FC236}">
                <a16:creationId xmlns:a16="http://schemas.microsoft.com/office/drawing/2014/main" id="{E659C31E-52E1-45CD-894B-3794FCA9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5" name="p18-text-5">
            <a:extLst xmlns:a="http://schemas.openxmlformats.org/drawingml/2006/main">
              <a:ext uri="{FF2B5EF4-FFF2-40B4-BE49-F238E27FC236}">
                <a16:creationId xmlns:a16="http://schemas.microsoft.com/office/drawing/2014/main" id="{2BC3A017-5D3F-4EC5-86D2-66B1848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933871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19-text-1">
            <a:extLst xmlns:a="http://schemas.openxmlformats.org/drawingml/2006/main">
              <a:ext uri="{FF2B5EF4-FFF2-40B4-BE49-F238E27FC236}">
                <a16:creationId xmlns:a16="http://schemas.microsoft.com/office/drawing/2014/main" id="{CEB6AEB7-A117-487F-8562-2F931BAB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中場休息</a:t>
            </a:r>
          </a:p>
        </p:txBody>
      </p:sp>
      <p:sp>
        <p:nvSpPr>
          <p:cNvPr id="2" name="p19-text-2">
            <a:extLst xmlns:a="http://schemas.openxmlformats.org/drawingml/2006/main">
              <a:ext uri="{FF2B5EF4-FFF2-40B4-BE49-F238E27FC236}">
                <a16:creationId xmlns:a16="http://schemas.microsoft.com/office/drawing/2014/main" id="{35A8320D-D80D-4E19-A7BD-7DDC4622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休息 20 分鐘</a:t>
            </a:r>
          </a:p>
        </p:txBody>
      </p:sp>
      <p:sp>
        <p:nvSpPr>
          <p:cNvPr id="3" name="p19-text-3">
            <a:extLst xmlns:a="http://schemas.openxmlformats.org/drawingml/2006/main">
              <a:ext uri="{FF2B5EF4-FFF2-40B4-BE49-F238E27FC236}">
                <a16:creationId xmlns:a16="http://schemas.microsoft.com/office/drawing/2014/main" id="{269C4D42-4643-4954-9B61-A05F7333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10:40 回來</a:t>
            </a:r>
          </a:p>
        </p:txBody>
      </p:sp>
      <p:sp>
        <p:nvSpPr>
          <p:cNvPr id="4" name="p19-text-4">
            <a:extLst xmlns:a="http://schemas.openxmlformats.org/drawingml/2006/main">
              <a:ext uri="{FF2B5EF4-FFF2-40B4-BE49-F238E27FC236}">
                <a16:creationId xmlns:a16="http://schemas.microsoft.com/office/drawing/2014/main" id="{95FFCAE4-D1F4-45AF-A294-754F81D7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下半場：人的定位與要練的技能</a:t>
            </a:r>
          </a:p>
        </p:txBody>
      </p:sp>
      <p:sp>
        <p:nvSpPr>
          <p:cNvPr id="5" name="p19-text-5">
            <a:extLst xmlns:a="http://schemas.openxmlformats.org/drawingml/2006/main">
              <a:ext uri="{FF2B5EF4-FFF2-40B4-BE49-F238E27FC236}">
                <a16:creationId xmlns:a16="http://schemas.microsoft.com/office/drawing/2014/main" id="{5A35E1F6-3B97-45EE-A285-316AC44F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6" name="p19-text-6">
            <a:extLst xmlns:a="http://schemas.openxmlformats.org/drawingml/2006/main">
              <a:ext uri="{FF2B5EF4-FFF2-40B4-BE49-F238E27FC236}">
                <a16:creationId xmlns:a16="http://schemas.microsoft.com/office/drawing/2014/main" id="{3A67544B-81CF-4E42-8736-63E7C27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20060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20-text-1">
            <a:extLst xmlns:a="http://schemas.openxmlformats.org/drawingml/2006/main">
              <a:ext uri="{FF2B5EF4-FFF2-40B4-BE49-F238E27FC236}">
                <a16:creationId xmlns:a16="http://schemas.microsoft.com/office/drawing/2014/main" id="{1712557C-D009-4CBF-9B4A-4AE3A02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0-text-2">
            <a:extLst xmlns:a="http://schemas.openxmlformats.org/drawingml/2006/main">
              <a:ext uri="{FF2B5EF4-FFF2-40B4-BE49-F238E27FC236}">
                <a16:creationId xmlns:a16="http://schemas.microsoft.com/office/drawing/2014/main" id="{740A2BF3-C83E-48E2-907D-BF18C4BB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回看剛才的兩段對話</a:t>
            </a:r>
          </a:p>
        </p:txBody>
      </p:sp>
      <p:sp>
        <p:nvSpPr>
          <p:cNvPr id="3" name="p20-text-3">
            <a:extLst xmlns:a="http://schemas.openxmlformats.org/drawingml/2006/main">
              <a:ext uri="{FF2B5EF4-FFF2-40B4-BE49-F238E27FC236}">
                <a16:creationId xmlns:a16="http://schemas.microsoft.com/office/drawing/2014/main" id="{8F632C45-DED0-4837-96FB-4D113D6D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AI 做了很多執行工作。</a:t>
            </a:r>
          </a:p>
        </p:txBody>
      </p:sp>
      <p:sp>
        <p:nvSpPr>
          <p:cNvPr id="4" name="p20-text-4">
            <a:extLst xmlns:a="http://schemas.openxmlformats.org/drawingml/2006/main">
              <a:ext uri="{FF2B5EF4-FFF2-40B4-BE49-F238E27FC236}">
                <a16:creationId xmlns:a16="http://schemas.microsoft.com/office/drawing/2014/main" id="{9BA0CF6E-A1CB-46F0-83CF-1BD8DA6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人在哪些地方改變了結果？</a:t>
            </a:r>
          </a:p>
        </p:txBody>
      </p:sp>
      <p:sp>
        <p:nvSpPr>
          <p:cNvPr id="5" name="p20-text-5">
            <a:extLst xmlns:a="http://schemas.openxmlformats.org/drawingml/2006/main">
              <a:ext uri="{FF2B5EF4-FFF2-40B4-BE49-F238E27FC236}">
                <a16:creationId xmlns:a16="http://schemas.microsoft.com/office/drawing/2014/main" id="{A515A2A1-25E7-465E-842F-F3D672C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6" name="p20-text-6">
            <a:extLst xmlns:a="http://schemas.openxmlformats.org/drawingml/2006/main">
              <a:ext uri="{FF2B5EF4-FFF2-40B4-BE49-F238E27FC236}">
                <a16:creationId xmlns:a16="http://schemas.microsoft.com/office/drawing/2014/main" id="{CC8D64A5-5370-4433-8FDF-D892134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360031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1-text-1">
            <a:extLst xmlns:a="http://schemas.openxmlformats.org/drawingml/2006/main">
              <a:ext uri="{FF2B5EF4-FFF2-40B4-BE49-F238E27FC236}">
                <a16:creationId xmlns:a16="http://schemas.microsoft.com/office/drawing/2014/main" id="{33DA520C-0701-4C5F-874A-4139B84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1-text-2">
            <a:extLst xmlns:a="http://schemas.openxmlformats.org/drawingml/2006/main">
              <a:ext uri="{FF2B5EF4-FFF2-40B4-BE49-F238E27FC236}">
                <a16:creationId xmlns:a16="http://schemas.microsoft.com/office/drawing/2014/main" id="{B6EB6374-989D-4B65-8EDF-2C87F7EB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人的三明治，是反覆循環</a:t>
            </a:r>
          </a:p>
        </p:txBody>
      </p:sp>
      <p:sp>
        <p:nvSpPr>
          <p:cNvPr id="3" name="p21-text-3">
            <a:extLst xmlns:a="http://schemas.openxmlformats.org/drawingml/2006/main">
              <a:ext uri="{FF2B5EF4-FFF2-40B4-BE49-F238E27FC236}">
                <a16:creationId xmlns:a16="http://schemas.microsoft.com/office/drawing/2014/main" id="{615F154F-1CD8-4D26-AA15-2EB6675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人：給目標、背景、限制與標準</a:t>
            </a:r>
          </a:p>
        </p:txBody>
      </p:sp>
      <p:sp>
        <p:nvSpPr>
          <p:cNvPr id="4" name="p21-text-4">
            <a:extLst xmlns:a="http://schemas.openxmlformats.org/drawingml/2006/main">
              <a:ext uri="{FF2B5EF4-FFF2-40B4-BE49-F238E27FC236}">
                <a16:creationId xmlns:a16="http://schemas.microsoft.com/office/drawing/2014/main" id="{7DCE3E65-2E81-439F-938C-7F0AF8B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AI：執行、整理、計算與起草</a:t>
            </a:r>
          </a:p>
        </p:txBody>
      </p:sp>
      <p:sp>
        <p:nvSpPr>
          <p:cNvPr id="5" name="p21-text-5">
            <a:extLst xmlns:a="http://schemas.openxmlformats.org/drawingml/2006/main">
              <a:ext uri="{FF2B5EF4-FFF2-40B4-BE49-F238E27FC236}">
                <a16:creationId xmlns:a16="http://schemas.microsoft.com/office/drawing/2014/main" id="{AA7BDD4A-95B2-4FE0-BDE6-9D654109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人：查證、判斷、修正，再交回 AI</a:t>
            </a:r>
          </a:p>
        </p:txBody>
      </p:sp>
      <p:sp>
        <p:nvSpPr>
          <p:cNvPr id="6" name="p21-text-6">
            <a:extLst xmlns:a="http://schemas.openxmlformats.org/drawingml/2006/main">
              <a:ext uri="{FF2B5EF4-FFF2-40B4-BE49-F238E27FC236}">
                <a16:creationId xmlns:a16="http://schemas.microsoft.com/office/drawing/2014/main" id="{B2B2237A-21F2-4CA0-97DD-2921869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1-text-7">
            <a:extLst xmlns:a="http://schemas.openxmlformats.org/drawingml/2006/main">
              <a:ext uri="{FF2B5EF4-FFF2-40B4-BE49-F238E27FC236}">
                <a16:creationId xmlns:a16="http://schemas.microsoft.com/office/drawing/2014/main" id="{040FBC50-5EE2-4404-84A1-58F04537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551684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2-text-1">
            <a:extLst xmlns:a="http://schemas.openxmlformats.org/drawingml/2006/main">
              <a:ext uri="{FF2B5EF4-FFF2-40B4-BE49-F238E27FC236}">
                <a16:creationId xmlns:a16="http://schemas.microsoft.com/office/drawing/2014/main" id="{B43D1A5A-047E-47CA-BAE5-36B01F05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2-text-2">
            <a:extLst xmlns:a="http://schemas.openxmlformats.org/drawingml/2006/main">
              <a:ext uri="{FF2B5EF4-FFF2-40B4-BE49-F238E27FC236}">
                <a16:creationId xmlns:a16="http://schemas.microsoft.com/office/drawing/2014/main" id="{9C1870F1-1337-4D1C-A928-DCC6EAE2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企業仍需要有人對結果負責</a:t>
            </a:r>
          </a:p>
        </p:txBody>
      </p:sp>
      <p:sp>
        <p:nvSpPr>
          <p:cNvPr id="3" name="p22-text-3">
            <a:extLst xmlns:a="http://schemas.openxmlformats.org/drawingml/2006/main">
              <a:ext uri="{FF2B5EF4-FFF2-40B4-BE49-F238E27FC236}">
                <a16:creationId xmlns:a16="http://schemas.microsoft.com/office/drawing/2014/main" id="{559C33F4-9A59-44BD-9B69-CD2A0719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判斷哪個問題值得解決</a:t>
            </a:r>
          </a:p>
        </p:txBody>
      </p:sp>
      <p:sp>
        <p:nvSpPr>
          <p:cNvPr id="4" name="p22-text-4">
            <a:extLst xmlns:a="http://schemas.openxmlformats.org/drawingml/2006/main">
              <a:ext uri="{FF2B5EF4-FFF2-40B4-BE49-F238E27FC236}">
                <a16:creationId xmlns:a16="http://schemas.microsoft.com/office/drawing/2014/main" id="{3C686E5F-074F-4953-8335-3A94CC8E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在資源與風險之間做選擇</a:t>
            </a:r>
          </a:p>
        </p:txBody>
      </p:sp>
      <p:sp>
        <p:nvSpPr>
          <p:cNvPr id="5" name="p22-text-5">
            <a:extLst xmlns:a="http://schemas.openxmlformats.org/drawingml/2006/main">
              <a:ext uri="{FF2B5EF4-FFF2-40B4-BE49-F238E27FC236}">
                <a16:creationId xmlns:a16="http://schemas.microsoft.com/office/drawing/2014/main" id="{05E26388-336C-44D6-8059-5752D79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確認承諾，協調完成，承擔後果</a:t>
            </a:r>
          </a:p>
        </p:txBody>
      </p:sp>
      <p:sp>
        <p:nvSpPr>
          <p:cNvPr id="6" name="p22-text-6">
            <a:extLst xmlns:a="http://schemas.openxmlformats.org/drawingml/2006/main">
              <a:ext uri="{FF2B5EF4-FFF2-40B4-BE49-F238E27FC236}">
                <a16:creationId xmlns:a16="http://schemas.microsoft.com/office/drawing/2014/main" id="{9A5C34F3-98D2-4E4E-8248-7543CC50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2-text-7">
            <a:extLst xmlns:a="http://schemas.openxmlformats.org/drawingml/2006/main">
              <a:ext uri="{FF2B5EF4-FFF2-40B4-BE49-F238E27FC236}">
                <a16:creationId xmlns:a16="http://schemas.microsoft.com/office/drawing/2014/main" id="{6D9E0F06-2794-4E37-9012-A69613D8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79049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3-text-1">
            <a:extLst xmlns:a="http://schemas.openxmlformats.org/drawingml/2006/main">
              <a:ext uri="{FF2B5EF4-FFF2-40B4-BE49-F238E27FC236}">
                <a16:creationId xmlns:a16="http://schemas.microsoft.com/office/drawing/2014/main" id="{15BF3473-19CD-488C-9F9D-E152155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3-text-2">
            <a:extLst xmlns:a="http://schemas.openxmlformats.org/drawingml/2006/main">
              <a:ext uri="{FF2B5EF4-FFF2-40B4-BE49-F238E27FC236}">
                <a16:creationId xmlns:a16="http://schemas.microsoft.com/office/drawing/2014/main" id="{751C5051-5418-4CFC-8419-128406C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已知的已知</a:t>
            </a:r>
          </a:p>
        </p:txBody>
      </p:sp>
      <p:sp>
        <p:nvSpPr>
          <p:cNvPr id="3" name="p23-text-3">
            <a:extLst xmlns:a="http://schemas.openxmlformats.org/drawingml/2006/main">
              <a:ext uri="{FF2B5EF4-FFF2-40B4-BE49-F238E27FC236}">
                <a16:creationId xmlns:a16="http://schemas.microsoft.com/office/drawing/2014/main" id="{31D2012C-55BB-49CD-8E12-EC75CC37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資料裡明確寫了什麼？</a:t>
            </a:r>
          </a:p>
        </p:txBody>
      </p:sp>
      <p:sp>
        <p:nvSpPr>
          <p:cNvPr id="4" name="p23-text-4">
            <a:extLst xmlns:a="http://schemas.openxmlformats.org/drawingml/2006/main">
              <a:ext uri="{FF2B5EF4-FFF2-40B4-BE49-F238E27FC236}">
                <a16:creationId xmlns:a16="http://schemas.microsoft.com/office/drawing/2014/main" id="{94E7470D-2B0C-4D32-944D-93060B62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這個數字是事實，還是教學假設？</a:t>
            </a:r>
          </a:p>
        </p:txBody>
      </p:sp>
      <p:sp>
        <p:nvSpPr>
          <p:cNvPr id="5" name="p23-text-5">
            <a:extLst xmlns:a="http://schemas.openxmlformats.org/drawingml/2006/main">
              <a:ext uri="{FF2B5EF4-FFF2-40B4-BE49-F238E27FC236}">
                <a16:creationId xmlns:a16="http://schemas.microsoft.com/office/drawing/2014/main" id="{7378B66D-4D4C-4E62-8EF7-E69AD125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定義、期間與單位是否一致？</a:t>
            </a:r>
          </a:p>
        </p:txBody>
      </p:sp>
      <p:sp>
        <p:nvSpPr>
          <p:cNvPr id="6" name="p23-text-6">
            <a:extLst xmlns:a="http://schemas.openxmlformats.org/drawingml/2006/main">
              <a:ext uri="{FF2B5EF4-FFF2-40B4-BE49-F238E27FC236}">
                <a16:creationId xmlns:a16="http://schemas.microsoft.com/office/drawing/2014/main" id="{BBA3A014-DFE8-41D9-B9D5-609A518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3-text-7">
            <a:extLst xmlns:a="http://schemas.openxmlformats.org/drawingml/2006/main">
              <a:ext uri="{FF2B5EF4-FFF2-40B4-BE49-F238E27FC236}">
                <a16:creationId xmlns:a16="http://schemas.microsoft.com/office/drawing/2014/main" id="{40A78A35-4FFB-4F00-960D-5B6865B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45058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4-text-1">
            <a:extLst xmlns:a="http://schemas.openxmlformats.org/drawingml/2006/main">
              <a:ext uri="{FF2B5EF4-FFF2-40B4-BE49-F238E27FC236}">
                <a16:creationId xmlns:a16="http://schemas.microsoft.com/office/drawing/2014/main" id="{819828F9-2C26-4F9C-9A6C-97908EA8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4-text-2">
            <a:extLst xmlns:a="http://schemas.openxmlformats.org/drawingml/2006/main">
              <a:ext uri="{FF2B5EF4-FFF2-40B4-BE49-F238E27FC236}">
                <a16:creationId xmlns:a16="http://schemas.microsoft.com/office/drawing/2014/main" id="{4FFFA937-C6C8-4390-9193-1F75530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已知的未知</a:t>
            </a:r>
          </a:p>
        </p:txBody>
      </p:sp>
      <p:sp>
        <p:nvSpPr>
          <p:cNvPr id="3" name="p24-text-3">
            <a:extLst xmlns:a="http://schemas.openxmlformats.org/drawingml/2006/main">
              <a:ext uri="{FF2B5EF4-FFF2-40B4-BE49-F238E27FC236}">
                <a16:creationId xmlns:a16="http://schemas.microsoft.com/office/drawing/2014/main" id="{675DAF5E-FFC1-4B07-B813-8AAB40AC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已經知道缺哪項資訊</a:t>
            </a:r>
          </a:p>
        </p:txBody>
      </p:sp>
      <p:sp>
        <p:nvSpPr>
          <p:cNvPr id="4" name="p24-text-4">
            <a:extLst xmlns:a="http://schemas.openxmlformats.org/drawingml/2006/main">
              <a:ext uri="{FF2B5EF4-FFF2-40B4-BE49-F238E27FC236}">
                <a16:creationId xmlns:a16="http://schemas.microsoft.com/office/drawing/2014/main" id="{BA5D8E11-1D3C-4E8D-A762-EEBD17B0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列出誰能確認、何時確認</a:t>
            </a:r>
          </a:p>
        </p:txBody>
      </p:sp>
      <p:sp>
        <p:nvSpPr>
          <p:cNvPr id="5" name="p24-text-5">
            <a:extLst xmlns:a="http://schemas.openxmlformats.org/drawingml/2006/main">
              <a:ext uri="{FF2B5EF4-FFF2-40B4-BE49-F238E27FC236}">
                <a16:creationId xmlns:a16="http://schemas.microsoft.com/office/drawing/2014/main" id="{B8081FB4-C605-43B4-9E24-C26D725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沒有確認，就保留條件</a:t>
            </a:r>
          </a:p>
        </p:txBody>
      </p:sp>
      <p:sp>
        <p:nvSpPr>
          <p:cNvPr id="6" name="p24-text-6">
            <a:extLst xmlns:a="http://schemas.openxmlformats.org/drawingml/2006/main">
              <a:ext uri="{FF2B5EF4-FFF2-40B4-BE49-F238E27FC236}">
                <a16:creationId xmlns:a16="http://schemas.microsoft.com/office/drawing/2014/main" id="{5029BA84-EFB0-4F5D-9181-C1DB17A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4-text-7">
            <a:extLst xmlns:a="http://schemas.openxmlformats.org/drawingml/2006/main">
              <a:ext uri="{FF2B5EF4-FFF2-40B4-BE49-F238E27FC236}">
                <a16:creationId xmlns:a16="http://schemas.microsoft.com/office/drawing/2014/main" id="{CE84098F-6C46-4595-B3B7-3ED759E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744324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5-text-1">
            <a:extLst xmlns:a="http://schemas.openxmlformats.org/drawingml/2006/main">
              <a:ext uri="{FF2B5EF4-FFF2-40B4-BE49-F238E27FC236}">
                <a16:creationId xmlns:a16="http://schemas.microsoft.com/office/drawing/2014/main" id="{6F0429EE-3C58-477C-AED9-6F227B8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5-text-2">
            <a:extLst xmlns:a="http://schemas.openxmlformats.org/drawingml/2006/main">
              <a:ext uri="{FF2B5EF4-FFF2-40B4-BE49-F238E27FC236}">
                <a16:creationId xmlns:a16="http://schemas.microsoft.com/office/drawing/2014/main" id="{7F49B6E3-5F44-4BF1-AF04-D13BCBD5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未知的未知</a:t>
            </a:r>
          </a:p>
        </p:txBody>
      </p:sp>
      <p:sp>
        <p:nvSpPr>
          <p:cNvPr id="3" name="p25-text-3">
            <a:extLst xmlns:a="http://schemas.openxmlformats.org/drawingml/2006/main">
              <a:ext uri="{FF2B5EF4-FFF2-40B4-BE49-F238E27FC236}">
                <a16:creationId xmlns:a16="http://schemas.microsoft.com/office/drawing/2014/main" id="{5DE61A4A-E8FD-4966-8A7D-1FEB4AC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AI 可以提出你沒想到的盲點</a:t>
            </a:r>
          </a:p>
        </p:txBody>
      </p:sp>
      <p:sp>
        <p:nvSpPr>
          <p:cNvPr id="4" name="p25-text-4">
            <a:extLst xmlns:a="http://schemas.openxmlformats.org/drawingml/2006/main">
              <a:ext uri="{FF2B5EF4-FFF2-40B4-BE49-F238E27FC236}">
                <a16:creationId xmlns:a16="http://schemas.microsoft.com/office/drawing/2014/main" id="{AB621165-B093-471F-8D0A-FA649A36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新提醒先當假說</a:t>
            </a:r>
          </a:p>
        </p:txBody>
      </p:sp>
      <p:sp>
        <p:nvSpPr>
          <p:cNvPr id="5" name="p25-text-5">
            <a:extLst xmlns:a="http://schemas.openxmlformats.org/drawingml/2006/main">
              <a:ext uri="{FF2B5EF4-FFF2-40B4-BE49-F238E27FC236}">
                <a16:creationId xmlns:a16="http://schemas.microsoft.com/office/drawing/2014/main" id="{BF80A7E2-7023-400B-875C-86F5458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再找證據，必要時小規模驗證</a:t>
            </a:r>
          </a:p>
        </p:txBody>
      </p:sp>
      <p:sp>
        <p:nvSpPr>
          <p:cNvPr id="6" name="p25-text-6">
            <a:extLst xmlns:a="http://schemas.openxmlformats.org/drawingml/2006/main">
              <a:ext uri="{FF2B5EF4-FFF2-40B4-BE49-F238E27FC236}">
                <a16:creationId xmlns:a16="http://schemas.microsoft.com/office/drawing/2014/main" id="{B5B90629-FD9F-427C-B2F7-4E651E8F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5-text-7">
            <a:extLst xmlns:a="http://schemas.openxmlformats.org/drawingml/2006/main">
              <a:ext uri="{FF2B5EF4-FFF2-40B4-BE49-F238E27FC236}">
                <a16:creationId xmlns:a16="http://schemas.microsoft.com/office/drawing/2014/main" id="{92B06856-A19B-400A-A7F6-012BB913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485322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26-text-1">
            <a:extLst xmlns:a="http://schemas.openxmlformats.org/drawingml/2006/main">
              <a:ext uri="{FF2B5EF4-FFF2-40B4-BE49-F238E27FC236}">
                <a16:creationId xmlns:a16="http://schemas.microsoft.com/office/drawing/2014/main" id="{8F3008DD-4625-4331-A2E2-CACA416D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6-text-2">
            <a:extLst xmlns:a="http://schemas.openxmlformats.org/drawingml/2006/main">
              <a:ext uri="{FF2B5EF4-FFF2-40B4-BE49-F238E27FC236}">
                <a16:creationId xmlns:a16="http://schemas.microsoft.com/office/drawing/2014/main" id="{79E0F6A4-68E3-4B50-935D-3AE80FB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一張看起來很有說服力的圖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52D40-642C-4348-B195-49B5D8E90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86bd0034b479c"/>
          <a:stretch xmlns:a="http://schemas.openxmlformats.org/drawingml/2006/main"/>
        </p:blipFill>
        <p:spPr>
          <a:xfrm xmlns:a="http://schemas.openxmlformats.org/drawingml/2006/main">
            <a:off x="780083" y="2190750"/>
            <a:ext cx="3526185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p26-text-3">
            <a:extLst xmlns:a="http://schemas.openxmlformats.org/drawingml/2006/main">
              <a:ext uri="{FF2B5EF4-FFF2-40B4-BE49-F238E27FC236}">
                <a16:creationId xmlns:a16="http://schemas.microsoft.com/office/drawing/2014/main" id="{739AD5D5-0658-4318-A33A-BBF4B3A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圖中標示 Feb 2026</a:t>
            </a:r>
          </a:p>
        </p:txBody>
      </p:sp>
      <p:sp>
        <p:nvSpPr>
          <p:cNvPr id="5" name="p26-text-4">
            <a:extLst xmlns:a="http://schemas.openxmlformats.org/drawingml/2006/main">
              <a:ext uri="{FF2B5EF4-FFF2-40B4-BE49-F238E27FC236}">
                <a16:creationId xmlns:a16="http://schemas.microsoft.com/office/drawing/2014/main" id="{EB8CF9D0-154A-4055-89FE-35F728B1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71875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無可追溯的原始統計來源</a:t>
            </a:r>
          </a:p>
        </p:txBody>
      </p:sp>
      <p:sp>
        <p:nvSpPr>
          <p:cNvPr id="6" name="p26-text-5">
            <a:extLst xmlns:a="http://schemas.openxmlformats.org/drawingml/2006/main">
              <a:ext uri="{FF2B5EF4-FFF2-40B4-BE49-F238E27FC236}">
                <a16:creationId xmlns:a16="http://schemas.microsoft.com/office/drawing/2014/main" id="{3576BA77-D240-42D5-9D72-8494992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9625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不能當作最新全球使用現況</a:t>
            </a:r>
          </a:p>
        </p:txBody>
      </p:sp>
      <p:sp>
        <p:nvSpPr>
          <p:cNvPr id="7" name="p26-text-6">
            <a:extLst xmlns:a="http://schemas.openxmlformats.org/drawingml/2006/main">
              <a:ext uri="{FF2B5EF4-FFF2-40B4-BE49-F238E27FC236}">
                <a16:creationId xmlns:a16="http://schemas.microsoft.com/office/drawing/2014/main" id="{413D17F0-4A63-4939-9901-3D01967D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待核對的圖表｜原圖 Feb 2026｜來源與口徑未核實</a:t>
            </a:r>
          </a:p>
        </p:txBody>
      </p:sp>
      <p:sp>
        <p:nvSpPr>
          <p:cNvPr id="8" name="p26-text-7">
            <a:extLst xmlns:a="http://schemas.openxmlformats.org/drawingml/2006/main">
              <a:ext uri="{FF2B5EF4-FFF2-40B4-BE49-F238E27FC236}">
                <a16:creationId xmlns:a16="http://schemas.microsoft.com/office/drawing/2014/main" id="{8DF2AC5F-7008-4376-AD0A-6EA3B2B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537315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7-text-1">
            <a:extLst xmlns:a="http://schemas.openxmlformats.org/drawingml/2006/main">
              <a:ext uri="{FF2B5EF4-FFF2-40B4-BE49-F238E27FC236}">
                <a16:creationId xmlns:a16="http://schemas.microsoft.com/office/drawing/2014/main" id="{9EAC2E42-EC12-4C74-82DA-CB095782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7-text-2">
            <a:extLst xmlns:a="http://schemas.openxmlformats.org/drawingml/2006/main">
              <a:ext uri="{FF2B5EF4-FFF2-40B4-BE49-F238E27FC236}">
                <a16:creationId xmlns:a16="http://schemas.microsoft.com/office/drawing/2014/main" id="{D80E9567-DD05-46AE-85E7-7171FB3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五項值得練的能力</a:t>
            </a:r>
          </a:p>
        </p:txBody>
      </p:sp>
      <p:sp>
        <p:nvSpPr>
          <p:cNvPr id="3" name="p27-text-3">
            <a:extLst xmlns:a="http://schemas.openxmlformats.org/drawingml/2006/main">
              <a:ext uri="{FF2B5EF4-FFF2-40B4-BE49-F238E27FC236}">
                <a16:creationId xmlns:a16="http://schemas.microsoft.com/office/drawing/2014/main" id="{BA4FAB1B-A4E6-4899-849C-0E7B7DC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商業理解　／　問題定義</a:t>
            </a:r>
          </a:p>
        </p:txBody>
      </p:sp>
      <p:sp>
        <p:nvSpPr>
          <p:cNvPr id="4" name="p27-text-4">
            <a:extLst xmlns:a="http://schemas.openxmlformats.org/drawingml/2006/main">
              <a:ext uri="{FF2B5EF4-FFF2-40B4-BE49-F238E27FC236}">
                <a16:creationId xmlns:a16="http://schemas.microsoft.com/office/drawing/2014/main" id="{02723E96-58AE-42A2-A506-65B854AD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資料與數字判讀</a:t>
            </a:r>
          </a:p>
        </p:txBody>
      </p:sp>
      <p:sp>
        <p:nvSpPr>
          <p:cNvPr id="5" name="p27-text-5">
            <a:extLst xmlns:a="http://schemas.openxmlformats.org/drawingml/2006/main">
              <a:ext uri="{FF2B5EF4-FFF2-40B4-BE49-F238E27FC236}">
                <a16:creationId xmlns:a16="http://schemas.microsoft.com/office/drawing/2014/main" id="{F37CD429-CD13-477F-96CC-4E01121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AI 協作與查證　／　溝通落實</a:t>
            </a:r>
          </a:p>
        </p:txBody>
      </p:sp>
      <p:sp>
        <p:nvSpPr>
          <p:cNvPr id="6" name="p27-text-6">
            <a:extLst xmlns:a="http://schemas.openxmlformats.org/drawingml/2006/main">
              <a:ext uri="{FF2B5EF4-FFF2-40B4-BE49-F238E27FC236}">
                <a16:creationId xmlns:a16="http://schemas.microsoft.com/office/drawing/2014/main" id="{4D371575-4CB1-432D-9CF3-9B1364C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7-text-7">
            <a:extLst xmlns:a="http://schemas.openxmlformats.org/drawingml/2006/main">
              <a:ext uri="{FF2B5EF4-FFF2-40B4-BE49-F238E27FC236}">
                <a16:creationId xmlns:a16="http://schemas.microsoft.com/office/drawing/2014/main" id="{A9425BA0-9687-428D-AE2B-1355421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138514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8-text-1">
            <a:extLst xmlns:a="http://schemas.openxmlformats.org/drawingml/2006/main">
              <a:ext uri="{FF2B5EF4-FFF2-40B4-BE49-F238E27FC236}">
                <a16:creationId xmlns:a16="http://schemas.microsoft.com/office/drawing/2014/main" id="{9A98F5CF-D604-484F-84B9-B14853AC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8-text-2">
            <a:extLst xmlns:a="http://schemas.openxmlformats.org/drawingml/2006/main">
              <a:ext uri="{FF2B5EF4-FFF2-40B4-BE49-F238E27FC236}">
                <a16:creationId xmlns:a16="http://schemas.microsoft.com/office/drawing/2014/main" id="{A6939717-3D97-4375-B140-756D6657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商業理解：知道為誰創造價值</a:t>
            </a:r>
          </a:p>
        </p:txBody>
      </p:sp>
      <p:sp>
        <p:nvSpPr>
          <p:cNvPr id="3" name="p28-text-3">
            <a:extLst xmlns:a="http://schemas.openxmlformats.org/drawingml/2006/main">
              <a:ext uri="{FF2B5EF4-FFF2-40B4-BE49-F238E27FC236}">
                <a16:creationId xmlns:a16="http://schemas.microsoft.com/office/drawing/2014/main" id="{25BE528D-C560-444B-8F8A-752DAB6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顧客想解決什麼問題？</a:t>
            </a:r>
          </a:p>
        </p:txBody>
      </p:sp>
      <p:sp>
        <p:nvSpPr>
          <p:cNvPr id="4" name="p28-text-4">
            <a:extLst xmlns:a="http://schemas.openxmlformats.org/drawingml/2006/main">
              <a:ext uri="{FF2B5EF4-FFF2-40B4-BE49-F238E27FC236}">
                <a16:creationId xmlns:a16="http://schemas.microsoft.com/office/drawing/2014/main" id="{206142DE-312D-423D-9DC5-EFEA82C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公司想改變什麼結果？</a:t>
            </a:r>
          </a:p>
        </p:txBody>
      </p:sp>
      <p:sp>
        <p:nvSpPr>
          <p:cNvPr id="5" name="p28-text-5">
            <a:extLst xmlns:a="http://schemas.openxmlformats.org/drawingml/2006/main">
              <a:ext uri="{FF2B5EF4-FFF2-40B4-BE49-F238E27FC236}">
                <a16:creationId xmlns:a16="http://schemas.microsoft.com/office/drawing/2014/main" id="{4B2E9F8B-AE09-4E36-88DE-ECC7F986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這個活動如何把兩者接起來？</a:t>
            </a:r>
          </a:p>
        </p:txBody>
      </p:sp>
      <p:sp>
        <p:nvSpPr>
          <p:cNvPr id="6" name="p28-text-6">
            <a:extLst xmlns:a="http://schemas.openxmlformats.org/drawingml/2006/main">
              <a:ext uri="{FF2B5EF4-FFF2-40B4-BE49-F238E27FC236}">
                <a16:creationId xmlns:a16="http://schemas.microsoft.com/office/drawing/2014/main" id="{33C92129-8D40-4156-BB15-BE18D2F0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8-text-7">
            <a:extLst xmlns:a="http://schemas.openxmlformats.org/drawingml/2006/main">
              <a:ext uri="{FF2B5EF4-FFF2-40B4-BE49-F238E27FC236}">
                <a16:creationId xmlns:a16="http://schemas.microsoft.com/office/drawing/2014/main" id="{B0E4212B-9C95-4DB1-993D-DA4EC0DC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740674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29-text-1">
            <a:extLst xmlns:a="http://schemas.openxmlformats.org/drawingml/2006/main">
              <a:ext uri="{FF2B5EF4-FFF2-40B4-BE49-F238E27FC236}">
                <a16:creationId xmlns:a16="http://schemas.microsoft.com/office/drawing/2014/main" id="{D74D3621-44EB-4FD2-AD59-9A1732D7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29-text-2">
            <a:extLst xmlns:a="http://schemas.openxmlformats.org/drawingml/2006/main">
              <a:ext uri="{FF2B5EF4-FFF2-40B4-BE49-F238E27FC236}">
                <a16:creationId xmlns:a16="http://schemas.microsoft.com/office/drawing/2014/main" id="{A7DA63FF-D220-4002-854D-ED75209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問題定義：把模糊要求說清楚</a:t>
            </a:r>
          </a:p>
        </p:txBody>
      </p:sp>
      <p:sp>
        <p:nvSpPr>
          <p:cNvPr id="3" name="p29-text-3">
            <a:extLst xmlns:a="http://schemas.openxmlformats.org/drawingml/2006/main">
              <a:ext uri="{FF2B5EF4-FFF2-40B4-BE49-F238E27FC236}">
                <a16:creationId xmlns:a16="http://schemas.microsoft.com/office/drawing/2014/main" id="{E78D8B3E-9C45-48AA-BE5F-5AB92E37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把「幫我做行銷」改成一份任務</a:t>
            </a:r>
          </a:p>
        </p:txBody>
      </p:sp>
      <p:sp>
        <p:nvSpPr>
          <p:cNvPr id="4" name="p29-text-4">
            <a:extLst xmlns:a="http://schemas.openxmlformats.org/drawingml/2006/main">
              <a:ext uri="{FF2B5EF4-FFF2-40B4-BE49-F238E27FC236}">
                <a16:creationId xmlns:a16="http://schemas.microsoft.com/office/drawing/2014/main" id="{00A8E99B-01C6-4138-8C74-99F55D6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說清楚背景、目標與不能做的事</a:t>
            </a:r>
          </a:p>
        </p:txBody>
      </p:sp>
      <p:sp>
        <p:nvSpPr>
          <p:cNvPr id="5" name="p29-text-5">
            <a:extLst xmlns:a="http://schemas.openxmlformats.org/drawingml/2006/main">
              <a:ext uri="{FF2B5EF4-FFF2-40B4-BE49-F238E27FC236}">
                <a16:creationId xmlns:a16="http://schemas.microsoft.com/office/drawing/2014/main" id="{00F8A955-CB5D-4606-8E58-53AC46CE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先約定好成果如何判斷</a:t>
            </a:r>
          </a:p>
        </p:txBody>
      </p:sp>
      <p:sp>
        <p:nvSpPr>
          <p:cNvPr id="6" name="p29-text-6">
            <a:extLst xmlns:a="http://schemas.openxmlformats.org/drawingml/2006/main">
              <a:ext uri="{FF2B5EF4-FFF2-40B4-BE49-F238E27FC236}">
                <a16:creationId xmlns:a16="http://schemas.microsoft.com/office/drawing/2014/main" id="{58545E8E-87AA-4E26-BE96-E9AE91E9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29-text-7">
            <a:extLst xmlns:a="http://schemas.openxmlformats.org/drawingml/2006/main">
              <a:ext uri="{FF2B5EF4-FFF2-40B4-BE49-F238E27FC236}">
                <a16:creationId xmlns:a16="http://schemas.microsoft.com/office/drawing/2014/main" id="{95F8687A-4947-4A61-A24C-0329804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510970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0-text-1">
            <a:extLst xmlns:a="http://schemas.openxmlformats.org/drawingml/2006/main">
              <a:ext uri="{FF2B5EF4-FFF2-40B4-BE49-F238E27FC236}">
                <a16:creationId xmlns:a16="http://schemas.microsoft.com/office/drawing/2014/main" id="{01842241-12DA-4741-8028-05A64D9A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30-text-2">
            <a:extLst xmlns:a="http://schemas.openxmlformats.org/drawingml/2006/main">
              <a:ext uri="{FF2B5EF4-FFF2-40B4-BE49-F238E27FC236}">
                <a16:creationId xmlns:a16="http://schemas.microsoft.com/office/drawing/2014/main" id="{097E46E3-A99C-4495-8F5B-555B670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數字判讀：看懂分母與代價</a:t>
            </a:r>
          </a:p>
        </p:txBody>
      </p:sp>
      <p:sp>
        <p:nvSpPr>
          <p:cNvPr id="3" name="p30-text-3">
            <a:extLst xmlns:a="http://schemas.openxmlformats.org/drawingml/2006/main">
              <a:ext uri="{FF2B5EF4-FFF2-40B4-BE49-F238E27FC236}">
                <a16:creationId xmlns:a16="http://schemas.microsoft.com/office/drawing/2014/main" id="{ECC55C00-E323-4652-BCFB-18B0815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人次、訂單、會員不能混為一談</a:t>
            </a:r>
          </a:p>
        </p:txBody>
      </p:sp>
      <p:sp>
        <p:nvSpPr>
          <p:cNvPr id="4" name="p30-text-4">
            <a:extLst xmlns:a="http://schemas.openxmlformats.org/drawingml/2006/main">
              <a:ext uri="{FF2B5EF4-FFF2-40B4-BE49-F238E27FC236}">
                <a16:creationId xmlns:a16="http://schemas.microsoft.com/office/drawing/2014/main" id="{9883599C-ABE5-4395-9F37-DDD7885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營收、毛利、活動費用要分開</a:t>
            </a:r>
          </a:p>
        </p:txBody>
      </p:sp>
      <p:sp>
        <p:nvSpPr>
          <p:cNvPr id="5" name="p30-text-5">
            <a:extLst xmlns:a="http://schemas.openxmlformats.org/drawingml/2006/main">
              <a:ext uri="{FF2B5EF4-FFF2-40B4-BE49-F238E27FC236}">
                <a16:creationId xmlns:a16="http://schemas.microsoft.com/office/drawing/2014/main" id="{E6901FB9-97F5-496F-BD3C-D4BB99B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目標不是預測，觀察不是因果</a:t>
            </a:r>
          </a:p>
        </p:txBody>
      </p:sp>
      <p:sp>
        <p:nvSpPr>
          <p:cNvPr id="6" name="p30-text-6">
            <a:extLst xmlns:a="http://schemas.openxmlformats.org/drawingml/2006/main">
              <a:ext uri="{FF2B5EF4-FFF2-40B4-BE49-F238E27FC236}">
                <a16:creationId xmlns:a16="http://schemas.microsoft.com/office/drawing/2014/main" id="{DE6E3F9E-2670-4756-A6CA-CBAC181A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0-text-7">
            <a:extLst xmlns:a="http://schemas.openxmlformats.org/drawingml/2006/main">
              <a:ext uri="{FF2B5EF4-FFF2-40B4-BE49-F238E27FC236}">
                <a16:creationId xmlns:a16="http://schemas.microsoft.com/office/drawing/2014/main" id="{581C7E91-B66E-4B37-ABB3-8497C425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77745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1-text-1">
            <a:extLst xmlns:a="http://schemas.openxmlformats.org/drawingml/2006/main">
              <a:ext uri="{FF2B5EF4-FFF2-40B4-BE49-F238E27FC236}">
                <a16:creationId xmlns:a16="http://schemas.microsoft.com/office/drawing/2014/main" id="{7AE26263-54E5-49CA-B218-4974BEDC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31-text-2">
            <a:extLst xmlns:a="http://schemas.openxmlformats.org/drawingml/2006/main">
              <a:ext uri="{FF2B5EF4-FFF2-40B4-BE49-F238E27FC236}">
                <a16:creationId xmlns:a16="http://schemas.microsoft.com/office/drawing/2014/main" id="{CCD7E54D-46EE-4A29-A470-59CE4BC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AI 協作：每一輪都能被檢查</a:t>
            </a:r>
          </a:p>
        </p:txBody>
      </p:sp>
      <p:sp>
        <p:nvSpPr>
          <p:cNvPr id="3" name="p31-text-3">
            <a:extLst xmlns:a="http://schemas.openxmlformats.org/drawingml/2006/main">
              <a:ext uri="{FF2B5EF4-FFF2-40B4-BE49-F238E27FC236}">
                <a16:creationId xmlns:a16="http://schemas.microsoft.com/office/drawing/2014/main" id="{AF9B2383-777D-4E31-8845-8892F92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請它區分依據、推論與待確認</a:t>
            </a:r>
          </a:p>
        </p:txBody>
      </p:sp>
      <p:sp>
        <p:nvSpPr>
          <p:cNvPr id="4" name="p31-text-4">
            <a:extLst xmlns:a="http://schemas.openxmlformats.org/drawingml/2006/main">
              <a:ext uri="{FF2B5EF4-FFF2-40B4-BE49-F238E27FC236}">
                <a16:creationId xmlns:a16="http://schemas.microsoft.com/office/drawing/2014/main" id="{B24FD710-F6E8-44A5-B9BD-F24AF8CF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挑重要數字與承諾回到原資料</a:t>
            </a:r>
          </a:p>
        </p:txBody>
      </p:sp>
      <p:sp>
        <p:nvSpPr>
          <p:cNvPr id="5" name="p31-text-5">
            <a:extLst xmlns:a="http://schemas.openxmlformats.org/drawingml/2006/main">
              <a:ext uri="{FF2B5EF4-FFF2-40B4-BE49-F238E27FC236}">
                <a16:creationId xmlns:a16="http://schemas.microsoft.com/office/drawing/2014/main" id="{D079D736-CD89-4D16-96CC-1CB576C6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記下修正，讓下一輪更接近需求</a:t>
            </a:r>
          </a:p>
        </p:txBody>
      </p:sp>
      <p:sp>
        <p:nvSpPr>
          <p:cNvPr id="6" name="p31-text-6">
            <a:extLst xmlns:a="http://schemas.openxmlformats.org/drawingml/2006/main">
              <a:ext uri="{FF2B5EF4-FFF2-40B4-BE49-F238E27FC236}">
                <a16:creationId xmlns:a16="http://schemas.microsoft.com/office/drawing/2014/main" id="{465929FA-E626-4A79-856A-D61E0021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1-text-7">
            <a:extLst xmlns:a="http://schemas.openxmlformats.org/drawingml/2006/main">
              <a:ext uri="{FF2B5EF4-FFF2-40B4-BE49-F238E27FC236}">
                <a16:creationId xmlns:a16="http://schemas.microsoft.com/office/drawing/2014/main" id="{A848C8D9-959C-431C-8F3A-DE4BE571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1199929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2-text-1">
            <a:extLst xmlns:a="http://schemas.openxmlformats.org/drawingml/2006/main">
              <a:ext uri="{FF2B5EF4-FFF2-40B4-BE49-F238E27FC236}">
                <a16:creationId xmlns:a16="http://schemas.microsoft.com/office/drawing/2014/main" id="{2D96D4A8-9BC1-4824-8673-357FE6B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32-text-2">
            <a:extLst xmlns:a="http://schemas.openxmlformats.org/drawingml/2006/main">
              <a:ext uri="{FF2B5EF4-FFF2-40B4-BE49-F238E27FC236}">
                <a16:creationId xmlns:a16="http://schemas.microsoft.com/office/drawing/2014/main" id="{B7563961-6686-47DF-99CB-CAF0BE22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溝通落實：讓別人接得住</a:t>
            </a:r>
          </a:p>
        </p:txBody>
      </p:sp>
      <p:sp>
        <p:nvSpPr>
          <p:cNvPr id="3" name="p32-text-3">
            <a:extLst xmlns:a="http://schemas.openxmlformats.org/drawingml/2006/main">
              <a:ext uri="{FF2B5EF4-FFF2-40B4-BE49-F238E27FC236}">
                <a16:creationId xmlns:a16="http://schemas.microsoft.com/office/drawing/2014/main" id="{BDD66BBF-3F7E-4CD9-A8DA-7EA838D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有負責人、期限與完成證據</a:t>
            </a:r>
          </a:p>
        </p:txBody>
      </p:sp>
      <p:sp>
        <p:nvSpPr>
          <p:cNvPr id="4" name="p32-text-4">
            <a:extLst xmlns:a="http://schemas.openxmlformats.org/drawingml/2006/main">
              <a:ext uri="{FF2B5EF4-FFF2-40B4-BE49-F238E27FC236}">
                <a16:creationId xmlns:a16="http://schemas.microsoft.com/office/drawing/2014/main" id="{8906AEFE-A088-44F6-B1FB-596EF402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待審稿與已核准內容要分開</a:t>
            </a:r>
          </a:p>
        </p:txBody>
      </p:sp>
      <p:sp>
        <p:nvSpPr>
          <p:cNvPr id="5" name="p32-text-5">
            <a:extLst xmlns:a="http://schemas.openxmlformats.org/drawingml/2006/main">
              <a:ext uri="{FF2B5EF4-FFF2-40B4-BE49-F238E27FC236}">
                <a16:creationId xmlns:a16="http://schemas.microsoft.com/office/drawing/2014/main" id="{7D2B03D8-099E-4B9A-BB10-F662CF1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遇到變化，回報並重排</a:t>
            </a:r>
          </a:p>
        </p:txBody>
      </p:sp>
      <p:sp>
        <p:nvSpPr>
          <p:cNvPr id="6" name="p32-text-6">
            <a:extLst xmlns:a="http://schemas.openxmlformats.org/drawingml/2006/main">
              <a:ext uri="{FF2B5EF4-FFF2-40B4-BE49-F238E27FC236}">
                <a16:creationId xmlns:a16="http://schemas.microsoft.com/office/drawing/2014/main" id="{D71D7539-9475-482F-BDD6-EF27E6C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2-text-7">
            <a:extLst xmlns:a="http://schemas.openxmlformats.org/drawingml/2006/main">
              <a:ext uri="{FF2B5EF4-FFF2-40B4-BE49-F238E27FC236}">
                <a16:creationId xmlns:a16="http://schemas.microsoft.com/office/drawing/2014/main" id="{17113A31-79A0-4C5C-97ED-94B5C401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965123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33-text-1">
            <a:extLst xmlns:a="http://schemas.openxmlformats.org/drawingml/2006/main">
              <a:ext uri="{FF2B5EF4-FFF2-40B4-BE49-F238E27FC236}">
                <a16:creationId xmlns:a16="http://schemas.microsoft.com/office/drawing/2014/main" id="{AE0AC153-EBFD-4188-A483-85A6392F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人的定位與技能</a:t>
            </a:r>
          </a:p>
        </p:txBody>
      </p:sp>
      <p:sp>
        <p:nvSpPr>
          <p:cNvPr id="2" name="p33-text-2">
            <a:extLst xmlns:a="http://schemas.openxmlformats.org/drawingml/2006/main">
              <a:ext uri="{FF2B5EF4-FFF2-40B4-BE49-F238E27FC236}">
                <a16:creationId xmlns:a16="http://schemas.microsoft.com/office/drawing/2014/main" id="{49E40C3F-523D-4CA1-9E1C-EEB1DA8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把事情做出來，</a:t>
            </a:r>
          </a:p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也把為什麼說清楚</a:t>
            </a:r>
          </a:p>
        </p:txBody>
      </p:sp>
      <p:sp>
        <p:nvSpPr>
          <p:cNvPr id="3" name="p33-text-3">
            <a:extLst xmlns:a="http://schemas.openxmlformats.org/drawingml/2006/main">
              <a:ext uri="{FF2B5EF4-FFF2-40B4-BE49-F238E27FC236}">
                <a16:creationId xmlns:a16="http://schemas.microsoft.com/office/drawing/2014/main" id="{32ABE465-73B6-4E65-BFA0-C96AC77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先理解，再協作；做完之後，再檢查。</a:t>
            </a:r>
          </a:p>
        </p:txBody>
      </p:sp>
      <p:sp>
        <p:nvSpPr>
          <p:cNvPr id="4" name="p33-text-4">
            <a:extLst xmlns:a="http://schemas.openxmlformats.org/drawingml/2006/main">
              <a:ext uri="{FF2B5EF4-FFF2-40B4-BE49-F238E27FC236}">
                <a16:creationId xmlns:a16="http://schemas.microsoft.com/office/drawing/2014/main" id="{CED95F54-B1D6-4374-830D-66D027A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5" name="p33-text-5">
            <a:extLst xmlns:a="http://schemas.openxmlformats.org/drawingml/2006/main">
              <a:ext uri="{FF2B5EF4-FFF2-40B4-BE49-F238E27FC236}">
                <a16:creationId xmlns:a16="http://schemas.microsoft.com/office/drawing/2014/main" id="{906B41FA-65BC-4CE7-B9A7-CFEE9E1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024778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34-text-1">
            <a:extLst xmlns:a="http://schemas.openxmlformats.org/drawingml/2006/main">
              <a:ext uri="{FF2B5EF4-FFF2-40B4-BE49-F238E27FC236}">
                <a16:creationId xmlns:a16="http://schemas.microsoft.com/office/drawing/2014/main" id="{CCB198D6-16AF-4AD9-B65F-52DD7A8A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提問與交流</a:t>
            </a:r>
          </a:p>
        </p:txBody>
      </p:sp>
      <p:sp>
        <p:nvSpPr>
          <p:cNvPr id="2" name="p34-text-2">
            <a:extLst xmlns:a="http://schemas.openxmlformats.org/drawingml/2006/main">
              <a:ext uri="{FF2B5EF4-FFF2-40B4-BE49-F238E27FC236}">
                <a16:creationId xmlns:a16="http://schemas.microsoft.com/office/drawing/2014/main" id="{A3115F66-D1BE-45B4-B872-DBDFB33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  <p:sp>
        <p:nvSpPr>
          <p:cNvPr id="3" name="p34-text-3">
            <a:extLst xmlns:a="http://schemas.openxmlformats.org/drawingml/2006/main">
              <a:ext uri="{FF2B5EF4-FFF2-40B4-BE49-F238E27FC236}">
                <a16:creationId xmlns:a16="http://schemas.microsoft.com/office/drawing/2014/main" id="{0A04058D-79B3-45F1-B2F1-2B2F7692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哪一段最像你未來會遇到的工作？</a:t>
            </a:r>
          </a:p>
        </p:txBody>
      </p:sp>
      <p:sp>
        <p:nvSpPr>
          <p:cNvPr id="4" name="p34-text-4">
            <a:extLst xmlns:a="http://schemas.openxmlformats.org/drawingml/2006/main">
              <a:ext uri="{FF2B5EF4-FFF2-40B4-BE49-F238E27FC236}">
                <a16:creationId xmlns:a16="http://schemas.microsoft.com/office/drawing/2014/main" id="{2FA12631-A4EF-41F8-BF90-EDE49AEF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哪一個 AI 結果，你最不敢直接相信？</a:t>
            </a:r>
          </a:p>
        </p:txBody>
      </p:sp>
      <p:sp>
        <p:nvSpPr>
          <p:cNvPr id="5" name="p34-text-5">
            <a:extLst xmlns:a="http://schemas.openxmlformats.org/drawingml/2006/main">
              <a:ext uri="{FF2B5EF4-FFF2-40B4-BE49-F238E27FC236}">
                <a16:creationId xmlns:a16="http://schemas.microsoft.com/office/drawing/2014/main" id="{867C8B32-653B-4E66-AA88-A3824686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6" name="p34-text-6">
            <a:extLst xmlns:a="http://schemas.openxmlformats.org/drawingml/2006/main">
              <a:ext uri="{FF2B5EF4-FFF2-40B4-BE49-F238E27FC236}">
                <a16:creationId xmlns:a16="http://schemas.microsoft.com/office/drawing/2014/main" id="{7AE25A5A-C20B-4E27-A218-D75B7B0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2259535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5-text-1">
            <a:extLst xmlns:a="http://schemas.openxmlformats.org/drawingml/2006/main">
              <a:ext uri="{FF2B5EF4-FFF2-40B4-BE49-F238E27FC236}">
                <a16:creationId xmlns:a16="http://schemas.microsoft.com/office/drawing/2014/main" id="{B70CE97C-EF1A-42DA-8EDB-F78D7704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備援附錄</a:t>
            </a:r>
          </a:p>
        </p:txBody>
      </p:sp>
      <p:sp>
        <p:nvSpPr>
          <p:cNvPr id="2" name="p35-text-2">
            <a:extLst xmlns:a="http://schemas.openxmlformats.org/drawingml/2006/main">
              <a:ext uri="{FF2B5EF4-FFF2-40B4-BE49-F238E27FC236}">
                <a16:creationId xmlns:a16="http://schemas.microsoft.com/office/drawing/2014/main" id="{3EB96199-B348-4A08-8F17-4938AE9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備援：示範沒有回應時</a:t>
            </a:r>
          </a:p>
        </p:txBody>
      </p:sp>
      <p:sp>
        <p:nvSpPr>
          <p:cNvPr id="3" name="p35-text-3">
            <a:extLst xmlns:a="http://schemas.openxmlformats.org/drawingml/2006/main">
              <a:ext uri="{FF2B5EF4-FFF2-40B4-BE49-F238E27FC236}">
                <a16:creationId xmlns:a16="http://schemas.microsoft.com/office/drawing/2014/main" id="{A0CD3408-1F0E-453E-B4E7-98D6BAB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明說：接下來是預先準備的示例</a:t>
            </a:r>
          </a:p>
        </p:txBody>
      </p:sp>
      <p:sp>
        <p:nvSpPr>
          <p:cNvPr id="4" name="p35-text-4">
            <a:extLst xmlns:a="http://schemas.openxmlformats.org/drawingml/2006/main">
              <a:ext uri="{FF2B5EF4-FFF2-40B4-BE49-F238E27FC236}">
                <a16:creationId xmlns:a16="http://schemas.microsoft.com/office/drawing/2014/main" id="{9EEFFC87-2495-4686-A68B-7BCB01E2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對照同一份輸入、推理與修正</a:t>
            </a:r>
          </a:p>
        </p:txBody>
      </p:sp>
      <p:sp>
        <p:nvSpPr>
          <p:cNvPr id="5" name="p35-text-5">
            <a:extLst xmlns:a="http://schemas.openxmlformats.org/drawingml/2006/main">
              <a:ext uri="{FF2B5EF4-FFF2-40B4-BE49-F238E27FC236}">
                <a16:creationId xmlns:a16="http://schemas.microsoft.com/office/drawing/2014/main" id="{2FC0B532-CB39-48E5-BECC-F628C61F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不把預備結果冒充現場生成</a:t>
            </a:r>
          </a:p>
        </p:txBody>
      </p:sp>
      <p:sp>
        <p:nvSpPr>
          <p:cNvPr id="6" name="p35-text-6">
            <a:extLst xmlns:a="http://schemas.openxmlformats.org/drawingml/2006/main">
              <a:ext uri="{FF2B5EF4-FFF2-40B4-BE49-F238E27FC236}">
                <a16:creationId xmlns:a16="http://schemas.microsoft.com/office/drawing/2014/main" id="{C353E93B-D69F-4BBF-849D-6E0F2F3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5-text-7">
            <a:extLst xmlns:a="http://schemas.openxmlformats.org/drawingml/2006/main">
              <a:ext uri="{FF2B5EF4-FFF2-40B4-BE49-F238E27FC236}">
                <a16:creationId xmlns:a16="http://schemas.microsoft.com/office/drawing/2014/main" id="{28D29C8D-CB7D-4424-81C0-6B91D345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08240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6-text-1">
            <a:extLst xmlns:a="http://schemas.openxmlformats.org/drawingml/2006/main">
              <a:ext uri="{FF2B5EF4-FFF2-40B4-BE49-F238E27FC236}">
                <a16:creationId xmlns:a16="http://schemas.microsoft.com/office/drawing/2014/main" id="{0AF95D82-6C81-49FC-B9F3-23C00EB3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備援附錄</a:t>
            </a:r>
          </a:p>
        </p:txBody>
      </p:sp>
      <p:sp>
        <p:nvSpPr>
          <p:cNvPr id="2" name="p36-text-2">
            <a:extLst xmlns:a="http://schemas.openxmlformats.org/drawingml/2006/main">
              <a:ext uri="{FF2B5EF4-FFF2-40B4-BE49-F238E27FC236}">
                <a16:creationId xmlns:a16="http://schemas.microsoft.com/office/drawing/2014/main" id="{0B70EC27-183E-439F-B5DF-822E56F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附錄：原版急單判斷</a:t>
            </a:r>
          </a:p>
        </p:txBody>
      </p:sp>
      <p:sp>
        <p:nvSpPr>
          <p:cNvPr id="3" name="p36-text-3">
            <a:extLst xmlns:a="http://schemas.openxmlformats.org/drawingml/2006/main">
              <a:ext uri="{FF2B5EF4-FFF2-40B4-BE49-F238E27FC236}">
                <a16:creationId xmlns:a16="http://schemas.microsoft.com/office/drawing/2014/main" id="{1F4460E5-73AE-46D4-A705-204A62F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3,000 件急單，先檢查接單條件</a:t>
            </a:r>
          </a:p>
        </p:txBody>
      </p:sp>
      <p:sp>
        <p:nvSpPr>
          <p:cNvPr id="4" name="p36-text-4">
            <a:extLst xmlns:a="http://schemas.openxmlformats.org/drawingml/2006/main">
              <a:ext uri="{FF2B5EF4-FFF2-40B4-BE49-F238E27FC236}">
                <a16:creationId xmlns:a16="http://schemas.microsoft.com/office/drawing/2014/main" id="{9A51206C-6253-4F13-A1BE-CDD01283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補料 500 kg；每件成本 70.64 元</a:t>
            </a:r>
          </a:p>
        </p:txBody>
      </p:sp>
      <p:sp>
        <p:nvSpPr>
          <p:cNvPr id="5" name="p36-text-5">
            <a:extLst xmlns:a="http://schemas.openxmlformats.org/drawingml/2006/main">
              <a:ext uri="{FF2B5EF4-FFF2-40B4-BE49-F238E27FC236}">
                <a16:creationId xmlns:a16="http://schemas.microsoft.com/office/drawing/2014/main" id="{A1CFB4EA-66D5-4A06-B6CF-9684064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售價 91.80 元；毛利 21.16 元</a:t>
            </a:r>
          </a:p>
        </p:txBody>
      </p:sp>
      <p:sp>
        <p:nvSpPr>
          <p:cNvPr id="6" name="p36-text-6">
            <a:extLst xmlns:a="http://schemas.openxmlformats.org/drawingml/2006/main">
              <a:ext uri="{FF2B5EF4-FFF2-40B4-BE49-F238E27FC236}">
                <a16:creationId xmlns:a16="http://schemas.microsoft.com/office/drawing/2014/main" id="{D22B5290-2821-425A-A373-3F002C7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原版虛構教學案例｜2026/9/12｜非咖啡活動數據</a:t>
            </a:r>
          </a:p>
        </p:txBody>
      </p:sp>
      <p:sp>
        <p:nvSpPr>
          <p:cNvPr id="7" name="p36-text-7">
            <a:extLst xmlns:a="http://schemas.openxmlformats.org/drawingml/2006/main">
              <a:ext uri="{FF2B5EF4-FFF2-40B4-BE49-F238E27FC236}">
                <a16:creationId xmlns:a16="http://schemas.microsoft.com/office/drawing/2014/main" id="{0675C58F-6DAB-451B-B28B-9E9F82B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5107531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37-text-1">
            <a:extLst xmlns:a="http://schemas.openxmlformats.org/drawingml/2006/main">
              <a:ext uri="{FF2B5EF4-FFF2-40B4-BE49-F238E27FC236}">
                <a16:creationId xmlns:a16="http://schemas.microsoft.com/office/drawing/2014/main" id="{BBF512C7-D588-425F-BD03-F93ACC3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備援附錄</a:t>
            </a:r>
          </a:p>
        </p:txBody>
      </p:sp>
      <p:sp>
        <p:nvSpPr>
          <p:cNvPr id="2" name="p37-text-2">
            <a:extLst xmlns:a="http://schemas.openxmlformats.org/drawingml/2006/main">
              <a:ext uri="{FF2B5EF4-FFF2-40B4-BE49-F238E27FC236}">
                <a16:creationId xmlns:a16="http://schemas.microsoft.com/office/drawing/2014/main" id="{FA900EFA-08A9-4E57-8A22-27FC17E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2E5A36"/>
                </a:solidFill>
                <a:latin typeface="Microsoft JhengHei"/>
                <a:ea typeface="Microsoft JhengHei"/>
                <a:cs typeface="Microsoft JhengHei"/>
              </a:rPr>
              <a:t>附錄：會後整理的方法</a:t>
            </a:r>
          </a:p>
        </p:txBody>
      </p:sp>
      <p:sp>
        <p:nvSpPr>
          <p:cNvPr id="3" name="p37-text-3">
            <a:extLst xmlns:a="http://schemas.openxmlformats.org/drawingml/2006/main">
              <a:ext uri="{FF2B5EF4-FFF2-40B4-BE49-F238E27FC236}">
                <a16:creationId xmlns:a16="http://schemas.microsoft.com/office/drawing/2014/main" id="{77BAE97B-B00A-494E-A489-EE5AF724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1C1D1F"/>
                </a:solidFill>
                <a:latin typeface="Microsoft JhengHei"/>
                <a:ea typeface="Microsoft JhengHei"/>
                <a:cs typeface="Microsoft JhengHei"/>
              </a:rPr>
              <a:t>決議與建議分開</a:t>
            </a:r>
          </a:p>
        </p:txBody>
      </p:sp>
      <p:sp>
        <p:nvSpPr>
          <p:cNvPr id="4" name="p37-text-4">
            <a:extLst xmlns:a="http://schemas.openxmlformats.org/drawingml/2006/main">
              <a:ext uri="{FF2B5EF4-FFF2-40B4-BE49-F238E27FC236}">
                <a16:creationId xmlns:a16="http://schemas.microsoft.com/office/drawing/2014/main" id="{FE1B32AA-5199-4507-A5AE-F7553ACA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責任、期限、標準可以追蹤</a:t>
            </a:r>
          </a:p>
        </p:txBody>
      </p:sp>
      <p:sp>
        <p:nvSpPr>
          <p:cNvPr id="5" name="p37-text-5">
            <a:extLst xmlns:a="http://schemas.openxmlformats.org/drawingml/2006/main">
              <a:ext uri="{FF2B5EF4-FFF2-40B4-BE49-F238E27FC236}">
                <a16:creationId xmlns:a16="http://schemas.microsoft.com/office/drawing/2014/main" id="{C76E2170-F32E-4C1A-AE38-6B6AFC6C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0553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未確認事項保留在清單上</a:t>
            </a:r>
          </a:p>
        </p:txBody>
      </p:sp>
      <p:sp>
        <p:nvSpPr>
          <p:cNvPr id="6" name="p37-text-6">
            <a:extLst xmlns:a="http://schemas.openxmlformats.org/drawingml/2006/main">
              <a:ext uri="{FF2B5EF4-FFF2-40B4-BE49-F238E27FC236}">
                <a16:creationId xmlns:a16="http://schemas.microsoft.com/office/drawing/2014/main" id="{23C57354-36FB-4E73-AEA5-E070D5C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0565D"/>
                </a:solidFill>
                <a:latin typeface="Microsoft JhengHei"/>
                <a:ea typeface="Microsoft JhengHei"/>
                <a:cs typeface="Microsoft JhengHei"/>
              </a:rPr>
              <a:t>Zell　梵亞行銷顧問</a:t>
            </a:r>
          </a:p>
        </p:txBody>
      </p:sp>
      <p:sp>
        <p:nvSpPr>
          <p:cNvPr id="7" name="p37-text-7">
            <a:extLst xmlns:a="http://schemas.openxmlformats.org/drawingml/2006/main">
              <a:ext uri="{FF2B5EF4-FFF2-40B4-BE49-F238E27FC236}">
                <a16:creationId xmlns:a16="http://schemas.microsoft.com/office/drawing/2014/main" id="{19F7682B-527B-4A70-BCA7-BA8C672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56028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72668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2026-10-26T15:03:32.9610000Z</dcterms:created>
  <dcterms:modified xsi:type="dcterms:W3CDTF">2026-10-26T15:03:32.9610000Z</dcterms:modified>
</coreProperties>
</file>